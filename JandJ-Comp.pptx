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Didact Gothic" charset="1" panose="00000500000000000000"/>
      <p:regular r:id="rId25"/>
    </p:embeddedFont>
    <p:embeddedFont>
      <p:font typeface="Cardo" charset="1" panose="020206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Ayan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Ayan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Ayan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Ayan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4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jpeg" Type="http://schemas.openxmlformats.org/officeDocument/2006/relationships/image"/><Relationship Id="rId11" Target="../media/image4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4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28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2" Target="../media/image4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3950" y="-486889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1419" y="5510784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57045" t="0" r="-57045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201419" y="5510784"/>
            <a:ext cx="5246522" cy="7495031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44000" y="7202409"/>
            <a:ext cx="2564685" cy="3663835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8888" y="-3578018"/>
            <a:ext cx="6105063" cy="8721518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57045" t="0" r="-5704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-3578018"/>
            <a:ext cx="6105063" cy="8721518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230264" y="7920225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47002" y="6051990"/>
            <a:ext cx="5689887" cy="200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929" spc="117">
                <a:solidFill>
                  <a:srgbClr val="F13223"/>
                </a:solidFill>
                <a:latin typeface="Didact Gothic"/>
                <a:ea typeface="Didact Gothic"/>
                <a:cs typeface="Didact Gothic"/>
                <a:sym typeface="Didact Gothic"/>
              </a:rPr>
              <a:t>Johnson &amp; Johnson Case Competition</a:t>
            </a:r>
          </a:p>
          <a:p>
            <a:pPr algn="l">
              <a:lnSpc>
                <a:spcPts val="2864"/>
              </a:lnSpc>
            </a:pPr>
            <a:r>
              <a:rPr lang="en-US" sz="2329" spc="93">
                <a:solidFill>
                  <a:srgbClr val="F13223"/>
                </a:solidFill>
                <a:latin typeface="Didact Gothic"/>
                <a:ea typeface="Didact Gothic"/>
                <a:cs typeface="Didact Gothic"/>
                <a:sym typeface="Didact Gothic"/>
              </a:rPr>
              <a:t>Team 9</a:t>
            </a:r>
          </a:p>
          <a:p>
            <a:pPr algn="l">
              <a:lnSpc>
                <a:spcPts val="2864"/>
              </a:lnSpc>
            </a:pPr>
          </a:p>
          <a:p>
            <a:pPr algn="l" marL="0" indent="0" lvl="0">
              <a:lnSpc>
                <a:spcPts val="2864"/>
              </a:lnSpc>
              <a:spcBef>
                <a:spcPct val="0"/>
              </a:spcBef>
            </a:pPr>
            <a:r>
              <a:rPr lang="en-US" sz="2329" spc="9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April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4922" y="3033539"/>
            <a:ext cx="815034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spc="-238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Wound Closure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7002" y="4236824"/>
            <a:ext cx="7231514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spc="-238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Strategy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2042010" y="2576336"/>
            <a:ext cx="7231514" cy="31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  <a:spcBef>
                <a:spcPct val="0"/>
              </a:spcBef>
            </a:pPr>
            <a:r>
              <a:rPr lang="en-US" sz="1887" spc="7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Aegis &amp; Aegis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2820" y="2079260"/>
            <a:ext cx="8429569" cy="6128480"/>
            <a:chOff x="0" y="0"/>
            <a:chExt cx="2220133" cy="1614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133" cy="1614085"/>
            </a:xfrm>
            <a:custGeom>
              <a:avLst/>
              <a:gdLst/>
              <a:ahLst/>
              <a:cxnLst/>
              <a:rect r="r" b="b" t="t" l="l"/>
              <a:pathLst>
                <a:path h="1614085" w="2220133">
                  <a:moveTo>
                    <a:pt x="46840" y="0"/>
                  </a:moveTo>
                  <a:lnTo>
                    <a:pt x="2173294" y="0"/>
                  </a:lnTo>
                  <a:cubicBezTo>
                    <a:pt x="2185717" y="0"/>
                    <a:pt x="2197630" y="4935"/>
                    <a:pt x="2206415" y="13719"/>
                  </a:cubicBezTo>
                  <a:cubicBezTo>
                    <a:pt x="2215199" y="22503"/>
                    <a:pt x="2220133" y="34417"/>
                    <a:pt x="2220133" y="46840"/>
                  </a:cubicBezTo>
                  <a:lnTo>
                    <a:pt x="2220133" y="1567246"/>
                  </a:lnTo>
                  <a:cubicBezTo>
                    <a:pt x="2220133" y="1593115"/>
                    <a:pt x="2199163" y="1614085"/>
                    <a:pt x="2173294" y="1614085"/>
                  </a:cubicBezTo>
                  <a:lnTo>
                    <a:pt x="46840" y="1614085"/>
                  </a:lnTo>
                  <a:cubicBezTo>
                    <a:pt x="34417" y="1614085"/>
                    <a:pt x="22503" y="1609151"/>
                    <a:pt x="13719" y="1600366"/>
                  </a:cubicBezTo>
                  <a:cubicBezTo>
                    <a:pt x="4935" y="1591582"/>
                    <a:pt x="0" y="1579668"/>
                    <a:pt x="0" y="1567246"/>
                  </a:cubicBezTo>
                  <a:lnTo>
                    <a:pt x="0" y="46840"/>
                  </a:lnTo>
                  <a:cubicBezTo>
                    <a:pt x="0" y="20971"/>
                    <a:pt x="20971" y="0"/>
                    <a:pt x="46840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0133" cy="1652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662868" y="9213544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28572" y="-695503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15334" y="4181475"/>
            <a:ext cx="6588664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07"/>
              </a:lnSpc>
              <a:spcBef>
                <a:spcPct val="0"/>
              </a:spcBef>
            </a:pPr>
            <a:r>
              <a:rPr lang="en-US" sz="6256" spc="-156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Challenge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757" y="3857588"/>
            <a:ext cx="7851694" cy="556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</a:pPr>
            <a:r>
              <a:rPr lang="en-US" sz="2280" spc="9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A&amp;A leads in traditional sutures but lacks presence in the fast-growing barbed suture market, while competitors are already gaining traction with FDA-approved products. With its current plant at full capacity, A&amp;A must rapidly enter the market with a differentiated, high-quality solution that aligns with its Credo and supports future scalability.</a:t>
            </a:r>
          </a:p>
          <a:p>
            <a:pPr algn="ctr">
              <a:lnSpc>
                <a:spcPts val="3146"/>
              </a:lnSpc>
            </a:pPr>
          </a:p>
          <a:p>
            <a:pPr algn="ctr">
              <a:lnSpc>
                <a:spcPts val="3146"/>
              </a:lnSpc>
            </a:pPr>
          </a:p>
          <a:p>
            <a:pPr algn="ctr">
              <a:lnSpc>
                <a:spcPts val="3146"/>
              </a:lnSpc>
            </a:pPr>
          </a:p>
          <a:p>
            <a:pPr algn="ctr">
              <a:lnSpc>
                <a:spcPts val="3146"/>
              </a:lnSpc>
            </a:pPr>
          </a:p>
          <a:p>
            <a:pPr algn="ctr">
              <a:lnSpc>
                <a:spcPts val="3146"/>
              </a:lnSpc>
            </a:pPr>
          </a:p>
          <a:p>
            <a:pPr algn="ctr">
              <a:lnSpc>
                <a:spcPts val="3146"/>
              </a:lnSpc>
            </a:pPr>
          </a:p>
          <a:p>
            <a:pPr algn="ctr">
              <a:lnSpc>
                <a:spcPts val="314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57045" t="0" r="-5704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86376" y="1259164"/>
            <a:ext cx="10608501" cy="8229600"/>
            <a:chOff x="0" y="0"/>
            <a:chExt cx="2794008" cy="21674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8" cy="2167467"/>
            </a:xfrm>
            <a:custGeom>
              <a:avLst/>
              <a:gdLst/>
              <a:ahLst/>
              <a:cxnLst/>
              <a:rect r="r" b="b" t="t" l="l"/>
              <a:pathLst>
                <a:path h="2167467" w="2794008">
                  <a:moveTo>
                    <a:pt x="37219" y="0"/>
                  </a:moveTo>
                  <a:lnTo>
                    <a:pt x="2756789" y="0"/>
                  </a:lnTo>
                  <a:cubicBezTo>
                    <a:pt x="2777345" y="0"/>
                    <a:pt x="2794008" y="16664"/>
                    <a:pt x="2794008" y="37219"/>
                  </a:cubicBezTo>
                  <a:lnTo>
                    <a:pt x="2794008" y="2130248"/>
                  </a:lnTo>
                  <a:cubicBezTo>
                    <a:pt x="2794008" y="2150803"/>
                    <a:pt x="2777345" y="2167467"/>
                    <a:pt x="2756789" y="2167467"/>
                  </a:cubicBezTo>
                  <a:lnTo>
                    <a:pt x="37219" y="2167467"/>
                  </a:lnTo>
                  <a:cubicBezTo>
                    <a:pt x="16664" y="2167467"/>
                    <a:pt x="0" y="2150803"/>
                    <a:pt x="0" y="2130248"/>
                  </a:cubicBezTo>
                  <a:lnTo>
                    <a:pt x="0" y="37219"/>
                  </a:lnTo>
                  <a:cubicBezTo>
                    <a:pt x="0" y="16664"/>
                    <a:pt x="16664" y="0"/>
                    <a:pt x="37219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94008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558395" y="1651148"/>
            <a:ext cx="9864463" cy="740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504" spc="10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Recommendation</a:t>
            </a:r>
          </a:p>
          <a:p>
            <a:pPr algn="l">
              <a:lnSpc>
                <a:spcPts val="2645"/>
              </a:lnSpc>
              <a:spcBef>
                <a:spcPct val="0"/>
              </a:spcBef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A&amp;A sh</a:t>
            </a: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ould pursue a premium leadership strategy by acquiring barbed suture IP, developing spiral sutures internally, and supporting this with high pricing, gold marketing.</a:t>
            </a:r>
          </a:p>
          <a:p>
            <a:pPr algn="l">
              <a:lnSpc>
                <a:spcPts val="2645"/>
              </a:lnSpc>
              <a:spcBef>
                <a:spcPct val="0"/>
              </a:spcBef>
            </a:pPr>
          </a:p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2504" spc="10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Key Decisions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R&amp;D: Purchase symmetrical IP + develop spiral internally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Pricing: High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Marketing: Gold (drive adoption)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Supply Chain: New Plant Construction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Human Capital: Full-Time Employees </a:t>
            </a:r>
          </a:p>
          <a:p>
            <a:pPr algn="l">
              <a:lnSpc>
                <a:spcPts val="2645"/>
              </a:lnSpc>
              <a:spcBef>
                <a:spcPct val="0"/>
              </a:spcBef>
            </a:pPr>
          </a:p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2504" spc="10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Key Results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Market Share: 56.4% → ~90% 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NPV: ~$24–25M  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Gross Profit: $8.3M → $91.4M (~75%–77% margin)</a:t>
            </a:r>
          </a:p>
          <a:p>
            <a:pPr algn="l" marL="413934" indent="-206967" lvl="1">
              <a:lnSpc>
                <a:spcPts val="2645"/>
              </a:lnSpc>
              <a:buFont typeface="Arial"/>
              <a:buChar char="•"/>
            </a:pPr>
            <a:r>
              <a:rPr lang="en-US" sz="1917" spc="7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Net Income: ~$39M (33% margin)</a:t>
            </a:r>
          </a:p>
          <a:p>
            <a:pPr algn="l">
              <a:lnSpc>
                <a:spcPts val="2645"/>
              </a:lnSpc>
              <a:spcBef>
                <a:spcPct val="0"/>
              </a:spcBef>
            </a:pPr>
          </a:p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2504" spc="10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Strategy:</a:t>
            </a:r>
          </a:p>
          <a:p>
            <a:pPr algn="just">
              <a:lnSpc>
                <a:spcPts val="2645"/>
              </a:lnSpc>
              <a:spcBef>
                <a:spcPct val="0"/>
              </a:spcBef>
            </a:pPr>
            <a:r>
              <a:rPr lang="en-US" sz="1917" spc="76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Build </a:t>
            </a:r>
            <a:r>
              <a:rPr lang="en-US" sz="1917" spc="76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a premium, differentiated portfolio supported by strong marketing and in-house capabilities.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1152525" y="3918676"/>
            <a:ext cx="1224824" cy="122482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3662868" y="9213544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28572" y="-695503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39446" y="4181475"/>
            <a:ext cx="4646929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7"/>
              </a:lnSpc>
              <a:spcBef>
                <a:spcPct val="0"/>
              </a:spcBef>
            </a:pPr>
            <a:r>
              <a:rPr lang="en-US" sz="6256" spc="-156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428" y="2797272"/>
            <a:ext cx="6039792" cy="5897033"/>
          </a:xfrm>
          <a:custGeom>
            <a:avLst/>
            <a:gdLst/>
            <a:ahLst/>
            <a:cxnLst/>
            <a:rect r="r" b="b" t="t" l="l"/>
            <a:pathLst>
              <a:path h="5897033" w="6039792">
                <a:moveTo>
                  <a:pt x="0" y="0"/>
                </a:moveTo>
                <a:lnTo>
                  <a:pt x="6039792" y="0"/>
                </a:lnTo>
                <a:lnTo>
                  <a:pt x="6039792" y="5897033"/>
                </a:lnTo>
                <a:lnTo>
                  <a:pt x="0" y="589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2469" y="640774"/>
            <a:ext cx="664042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sz="6426" spc="-160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Market Overview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35382" y="2066886"/>
            <a:ext cx="8408618" cy="6461028"/>
            <a:chOff x="0" y="0"/>
            <a:chExt cx="2214615" cy="1701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4615" cy="1701670"/>
            </a:xfrm>
            <a:custGeom>
              <a:avLst/>
              <a:gdLst/>
              <a:ahLst/>
              <a:cxnLst/>
              <a:rect r="r" b="b" t="t" l="l"/>
              <a:pathLst>
                <a:path h="1701670" w="2214615">
                  <a:moveTo>
                    <a:pt x="46956" y="0"/>
                  </a:moveTo>
                  <a:lnTo>
                    <a:pt x="2167659" y="0"/>
                  </a:lnTo>
                  <a:cubicBezTo>
                    <a:pt x="2180113" y="0"/>
                    <a:pt x="2192056" y="4947"/>
                    <a:pt x="2200862" y="13753"/>
                  </a:cubicBezTo>
                  <a:cubicBezTo>
                    <a:pt x="2209668" y="22559"/>
                    <a:pt x="2214615" y="34503"/>
                    <a:pt x="2214615" y="46956"/>
                  </a:cubicBezTo>
                  <a:lnTo>
                    <a:pt x="2214615" y="1654714"/>
                  </a:lnTo>
                  <a:cubicBezTo>
                    <a:pt x="2214615" y="1667167"/>
                    <a:pt x="2209668" y="1679111"/>
                    <a:pt x="2200862" y="1687917"/>
                  </a:cubicBezTo>
                  <a:cubicBezTo>
                    <a:pt x="2192056" y="1696723"/>
                    <a:pt x="2180113" y="1701670"/>
                    <a:pt x="2167659" y="1701670"/>
                  </a:cubicBezTo>
                  <a:lnTo>
                    <a:pt x="46956" y="1701670"/>
                  </a:lnTo>
                  <a:cubicBezTo>
                    <a:pt x="34503" y="1701670"/>
                    <a:pt x="22559" y="1696723"/>
                    <a:pt x="13753" y="1687917"/>
                  </a:cubicBezTo>
                  <a:cubicBezTo>
                    <a:pt x="4947" y="1679111"/>
                    <a:pt x="0" y="1667167"/>
                    <a:pt x="0" y="1654714"/>
                  </a:cubicBezTo>
                  <a:lnTo>
                    <a:pt x="0" y="46956"/>
                  </a:lnTo>
                  <a:cubicBezTo>
                    <a:pt x="0" y="34503"/>
                    <a:pt x="4947" y="22559"/>
                    <a:pt x="13753" y="13753"/>
                  </a:cubicBezTo>
                  <a:cubicBezTo>
                    <a:pt x="22559" y="4947"/>
                    <a:pt x="34503" y="0"/>
                    <a:pt x="46956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4615" cy="1739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489842"/>
            <a:ext cx="7663880" cy="650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Market Size &amp; </a:t>
            </a: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Growth</a:t>
            </a:r>
          </a:p>
          <a:p>
            <a:pPr algn="l" marL="576963" indent="-288482" lvl="1">
              <a:lnSpc>
                <a:spcPts val="3687"/>
              </a:lnSpc>
              <a:buFont typeface="Arial"/>
              <a:buChar char="•"/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CAGR: ~6.5–7.8%</a:t>
            </a:r>
          </a:p>
          <a:p>
            <a:pPr algn="l" marL="576963" indent="-288482" lvl="1">
              <a:lnSpc>
                <a:spcPts val="3687"/>
              </a:lnSpc>
              <a:buFont typeface="Arial"/>
              <a:buChar char="•"/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Ba</a:t>
            </a: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rbed sutures growing fastest (9–12% CAGR)</a:t>
            </a:r>
          </a:p>
          <a:p>
            <a:pPr algn="l">
              <a:lnSpc>
                <a:spcPts val="3687"/>
              </a:lnSpc>
            </a:pPr>
          </a:p>
          <a:p>
            <a:pPr algn="l">
              <a:lnSpc>
                <a:spcPts val="3687"/>
              </a:lnSpc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Key Drivers</a:t>
            </a:r>
          </a:p>
          <a:p>
            <a:pPr algn="l" marL="576963" indent="-288482" lvl="1">
              <a:lnSpc>
                <a:spcPts val="3687"/>
              </a:lnSpc>
              <a:buFont typeface="Arial"/>
              <a:buChar char="•"/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Mo</a:t>
            </a: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 surgeries + aging population</a:t>
            </a:r>
          </a:p>
          <a:p>
            <a:pPr algn="l" marL="576963" indent="-288482" lvl="1">
              <a:lnSpc>
                <a:spcPts val="3687"/>
              </a:lnSpc>
              <a:buFont typeface="Arial"/>
              <a:buChar char="•"/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Improved efficiency with lower infection risk</a:t>
            </a:r>
          </a:p>
          <a:p>
            <a:pPr algn="l">
              <a:lnSpc>
                <a:spcPts val="3687"/>
              </a:lnSpc>
            </a:pPr>
          </a:p>
          <a:p>
            <a:pPr algn="l">
              <a:lnSpc>
                <a:spcPts val="3687"/>
              </a:lnSpc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</a:t>
            </a: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doption Insight</a:t>
            </a:r>
          </a:p>
          <a:p>
            <a:pPr algn="l" marL="576963" indent="-288482" lvl="1">
              <a:lnSpc>
                <a:spcPts val="3687"/>
              </a:lnSpc>
              <a:buFont typeface="Arial"/>
              <a:buChar char="•"/>
            </a:pP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Not automatic; s</a:t>
            </a:r>
            <a:r>
              <a:rPr lang="en-US" sz="2672" spc="10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urgeons require training and trust</a:t>
            </a:r>
          </a:p>
          <a:p>
            <a:pPr algn="l">
              <a:lnSpc>
                <a:spcPts val="3687"/>
              </a:lnSpc>
            </a:pPr>
          </a:p>
          <a:p>
            <a:pPr algn="l">
              <a:lnSpc>
                <a:spcPts val="3687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5400000">
            <a:off x="416288" y="514137"/>
            <a:ext cx="1224824" cy="12248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045558" y="-7495435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641917" y="8985114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04750" y="2320239"/>
            <a:ext cx="4893526" cy="48935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31" t="0" r="-2493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04750" y="2320239"/>
            <a:ext cx="4893526" cy="489352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25722" y="514137"/>
            <a:ext cx="1224824" cy="12248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976437" y="778055"/>
            <a:ext cx="1177658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99"/>
              </a:lnSpc>
              <a:spcBef>
                <a:spcPct val="0"/>
              </a:spcBef>
            </a:pPr>
            <a:r>
              <a:rPr lang="en-US" sz="5499" spc="-137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Market Position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5722" y="4014408"/>
            <a:ext cx="6630418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sz="3999" spc="31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A&amp;A Market Position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1696" y="7775018"/>
            <a:ext cx="9797060" cy="165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 spc="9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Opportunity to l</a:t>
            </a:r>
            <a:r>
              <a:rPr lang="en-US" sz="2400" spc="9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ead the market with a first-to-market spiral.</a:t>
            </a:r>
          </a:p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 spc="9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Potential to strengthen premium positioning in barbed sutures.</a:t>
            </a:r>
          </a:p>
          <a:p>
            <a:pPr algn="l" marL="518160" indent="-259080" lvl="1">
              <a:lnSpc>
                <a:spcPts val="3311"/>
              </a:lnSpc>
              <a:buFont typeface="Arial"/>
              <a:buChar char="•"/>
            </a:pPr>
            <a:r>
              <a:rPr lang="en-US" sz="2400" spc="9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Room to expand capacity to support next-generation growth.</a:t>
            </a:r>
          </a:p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55924" y="7028258"/>
            <a:ext cx="8519682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19"/>
              </a:lnSpc>
              <a:spcBef>
                <a:spcPct val="0"/>
              </a:spcBef>
            </a:pPr>
            <a:r>
              <a:rPr lang="en-US" sz="3999" spc="31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Strategic Gap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5722" y="4752371"/>
            <a:ext cx="9823035" cy="249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016" indent="-259008" lvl="1">
              <a:lnSpc>
                <a:spcPts val="3311"/>
              </a:lnSpc>
              <a:buFont typeface="Arial"/>
              <a:buChar char="•"/>
            </a:pPr>
            <a:r>
              <a:rPr lang="en-US" sz="2399" spc="9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Marke</a:t>
            </a:r>
            <a:r>
              <a:rPr lang="en-US" sz="2399" spc="9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 leader in t</a:t>
            </a:r>
            <a:r>
              <a:rPr lang="en-US" sz="2399" spc="9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raditional sutures with strong hospital relationships</a:t>
            </a:r>
          </a:p>
          <a:p>
            <a:pPr algn="l" marL="518016" indent="-259008" lvl="1">
              <a:lnSpc>
                <a:spcPts val="3311"/>
              </a:lnSpc>
              <a:buFont typeface="Arial"/>
              <a:buChar char="•"/>
            </a:pPr>
            <a:r>
              <a:rPr lang="en-US" sz="2399" spc="9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High</a:t>
            </a:r>
            <a:r>
              <a:rPr lang="en-US" sz="2399" spc="9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brand trust and established surgeon usage</a:t>
            </a:r>
          </a:p>
          <a:p>
            <a:pPr algn="l" marL="518016" indent="-259008" lvl="1">
              <a:lnSpc>
                <a:spcPts val="3311"/>
              </a:lnSpc>
              <a:buFont typeface="Arial"/>
              <a:buChar char="•"/>
            </a:pPr>
            <a:r>
              <a:rPr lang="en-US" sz="2399" spc="9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Large installed base across high-volume procedures</a:t>
            </a:r>
          </a:p>
          <a:p>
            <a:pPr algn="l">
              <a:lnSpc>
                <a:spcPts val="3311"/>
              </a:lnSpc>
            </a:pPr>
          </a:p>
          <a:p>
            <a:pPr algn="l" marL="0" indent="0" lvl="0">
              <a:lnSpc>
                <a:spcPts val="3311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51696" y="2241137"/>
            <a:ext cx="279480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sz="8499" spc="-212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56.4</a:t>
            </a:r>
            <a:r>
              <a:rPr lang="en-US" sz="8499" spc="-212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76966" y="2445468"/>
            <a:ext cx="5398640" cy="83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94"/>
              </a:lnSpc>
              <a:spcBef>
                <a:spcPct val="0"/>
              </a:spcBef>
            </a:pPr>
            <a:r>
              <a:rPr lang="en-US" sz="2460" spc="98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A&amp;A</a:t>
            </a:r>
            <a:r>
              <a:rPr lang="en-US" sz="2460" spc="98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holds 56.4% market share in traditional sutures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045558" y="-7495435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662868" y="9213544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07828" y="2901130"/>
            <a:ext cx="3597403" cy="13130362"/>
            <a:chOff x="0" y="0"/>
            <a:chExt cx="862412" cy="31477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2412" cy="3147764"/>
            </a:xfrm>
            <a:custGeom>
              <a:avLst/>
              <a:gdLst/>
              <a:ahLst/>
              <a:cxnLst/>
              <a:rect r="r" b="b" t="t" l="l"/>
              <a:pathLst>
                <a:path h="3147764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51D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62412" cy="3185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52405" y="2140091"/>
            <a:ext cx="3597403" cy="13130362"/>
            <a:chOff x="0" y="0"/>
            <a:chExt cx="862412" cy="3147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2412" cy="3147764"/>
            </a:xfrm>
            <a:custGeom>
              <a:avLst/>
              <a:gdLst/>
              <a:ahLst/>
              <a:cxnLst/>
              <a:rect r="r" b="b" t="t" l="l"/>
              <a:pathLst>
                <a:path h="3147764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51D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62412" cy="3185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82769" y="2901130"/>
            <a:ext cx="3597403" cy="13130362"/>
            <a:chOff x="0" y="0"/>
            <a:chExt cx="862412" cy="31477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2412" cy="3147764"/>
            </a:xfrm>
            <a:custGeom>
              <a:avLst/>
              <a:gdLst/>
              <a:ahLst/>
              <a:cxnLst/>
              <a:rect r="r" b="b" t="t" l="l"/>
              <a:pathLst>
                <a:path h="3147764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51D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62412" cy="3185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904097" y="-6662579"/>
            <a:ext cx="7200900" cy="10287000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>
                <a:alphaModFix amt="18999"/>
              </a:blip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-10800000">
            <a:off x="-3990147" y="-3081357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307828" y="3833971"/>
            <a:ext cx="3597403" cy="6633369"/>
            <a:chOff x="0" y="0"/>
            <a:chExt cx="947464" cy="17470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7464" cy="1747060"/>
            </a:xfrm>
            <a:custGeom>
              <a:avLst/>
              <a:gdLst/>
              <a:ahLst/>
              <a:cxnLst/>
              <a:rect r="r" b="b" t="t" l="l"/>
              <a:pathLst>
                <a:path h="1747060" w="947464">
                  <a:moveTo>
                    <a:pt x="0" y="0"/>
                  </a:moveTo>
                  <a:lnTo>
                    <a:pt x="947464" y="0"/>
                  </a:lnTo>
                  <a:lnTo>
                    <a:pt x="947464" y="1747060"/>
                  </a:lnTo>
                  <a:lnTo>
                    <a:pt x="0" y="1747060"/>
                  </a:ln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7464" cy="1785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84283" y="4110871"/>
            <a:ext cx="3270559" cy="581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$221M revenue, smaller but specialized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Early patent (1999) + </a:t>
            </a: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FDA approval (2005)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Advanced product design (bi/unidirectional sutures)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Competes through differentiation, not scale</a:t>
            </a:r>
          </a:p>
          <a:p>
            <a:pPr algn="l">
              <a:lnSpc>
                <a:spcPts val="2760"/>
              </a:lnSpc>
            </a:pPr>
          </a:p>
          <a:p>
            <a:pPr algn="ctr">
              <a:lnSpc>
                <a:spcPts val="2760"/>
              </a:lnSpc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Takeaway:</a:t>
            </a:r>
          </a:p>
          <a:p>
            <a:pPr algn="ctr">
              <a:lnSpc>
                <a:spcPts val="2760"/>
              </a:lnSpc>
            </a:pPr>
            <a:r>
              <a:rPr lang="en-US" sz="2300" spc="92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Niche innovator with strong product design</a:t>
            </a:r>
          </a:p>
          <a:p>
            <a:pPr algn="ctr">
              <a:lnSpc>
                <a:spcPts val="2760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7452405" y="3205321"/>
            <a:ext cx="3597403" cy="7262019"/>
            <a:chOff x="0" y="0"/>
            <a:chExt cx="947464" cy="19126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7464" cy="1912631"/>
            </a:xfrm>
            <a:custGeom>
              <a:avLst/>
              <a:gdLst/>
              <a:ahLst/>
              <a:cxnLst/>
              <a:rect r="r" b="b" t="t" l="l"/>
              <a:pathLst>
                <a:path h="1912631" w="947464">
                  <a:moveTo>
                    <a:pt x="0" y="0"/>
                  </a:moveTo>
                  <a:lnTo>
                    <a:pt x="947464" y="0"/>
                  </a:lnTo>
                  <a:lnTo>
                    <a:pt x="947464" y="1912631"/>
                  </a:lnTo>
                  <a:lnTo>
                    <a:pt x="0" y="1912631"/>
                  </a:ln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47464" cy="1950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16521" y="3438525"/>
            <a:ext cx="3469171" cy="581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$11.9B revenue, global scale (55% U.S.)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FDA-approved barbed suture (since 2010)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</a:t>
            </a: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ong device portfolio (68% of revenue)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Proven clinical performance and adoption</a:t>
            </a:r>
          </a:p>
          <a:p>
            <a:pPr algn="l">
              <a:lnSpc>
                <a:spcPts val="2760"/>
              </a:lnSpc>
            </a:pPr>
          </a:p>
          <a:p>
            <a:pPr algn="ctr">
              <a:lnSpc>
                <a:spcPts val="2760"/>
              </a:lnSpc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Takeaway:</a:t>
            </a:r>
          </a:p>
          <a:p>
            <a:pPr algn="ctr">
              <a:lnSpc>
                <a:spcPts val="2760"/>
              </a:lnSpc>
            </a:pPr>
            <a:r>
              <a:rPr lang="en-US" sz="2300" spc="92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Dominant incumbent with scale and credibility</a:t>
            </a:r>
          </a:p>
          <a:p>
            <a:pPr algn="ctr">
              <a:lnSpc>
                <a:spcPts val="2760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5400000">
            <a:off x="4098153" y="594229"/>
            <a:ext cx="1224824" cy="122482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333894" y="3205321"/>
            <a:ext cx="357133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2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rPr>
              <a:t>Athena</a:t>
            </a:r>
            <a:r>
              <a:rPr lang="en-US" sz="2799" spc="22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rPr>
              <a:t> (Kronos)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33488" y="2484698"/>
            <a:ext cx="2899050" cy="41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738" spc="219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rPr>
              <a:t>Crius (Poseidon)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2896" y="3205321"/>
            <a:ext cx="3497149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spc="22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rPr>
              <a:t>Emerg</a:t>
            </a:r>
            <a:r>
              <a:rPr lang="en-US" sz="2799" spc="223">
                <a:solidFill>
                  <a:srgbClr val="FFFFFF"/>
                </a:solidFill>
                <a:latin typeface="Didact Gothic"/>
                <a:ea typeface="Didact Gothic"/>
                <a:cs typeface="Didact Gothic"/>
                <a:sym typeface="Didact Gothic"/>
              </a:rPr>
              <a:t>ing / Adjacent Players</a:t>
            </a:r>
          </a:p>
          <a:p>
            <a:pPr algn="ctr">
              <a:lnSpc>
                <a:spcPts val="3359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1382769" y="4377571"/>
            <a:ext cx="3597403" cy="7262019"/>
            <a:chOff x="0" y="0"/>
            <a:chExt cx="947464" cy="19126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7464" cy="1912631"/>
            </a:xfrm>
            <a:custGeom>
              <a:avLst/>
              <a:gdLst/>
              <a:ahLst/>
              <a:cxnLst/>
              <a:rect r="r" b="b" t="t" l="l"/>
              <a:pathLst>
                <a:path h="1912631" w="947464">
                  <a:moveTo>
                    <a:pt x="0" y="0"/>
                  </a:moveTo>
                  <a:lnTo>
                    <a:pt x="947464" y="0"/>
                  </a:lnTo>
                  <a:lnTo>
                    <a:pt x="947464" y="1912631"/>
                  </a:lnTo>
                  <a:lnTo>
                    <a:pt x="0" y="1912631"/>
                  </a:ln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47464" cy="1950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472800" y="4588431"/>
            <a:ext cx="3417340" cy="513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Smaller f</a:t>
            </a: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irms (e.g., Hades Medical) → niche innovations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Adjacent tech (Apollo &amp; Nyx) → alternative wound care</a:t>
            </a:r>
          </a:p>
          <a:p>
            <a:pPr algn="l" marL="496571" indent="-248285" lvl="1">
              <a:lnSpc>
                <a:spcPts val="2760"/>
              </a:lnSpc>
              <a:buFont typeface="Arial"/>
              <a:buChar char="•"/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Increasing innovation pressure in wound closure</a:t>
            </a:r>
          </a:p>
          <a:p>
            <a:pPr algn="l">
              <a:lnSpc>
                <a:spcPts val="2760"/>
              </a:lnSpc>
            </a:pPr>
          </a:p>
          <a:p>
            <a:pPr algn="ctr">
              <a:lnSpc>
                <a:spcPts val="2760"/>
              </a:lnSpc>
            </a:pPr>
            <a:r>
              <a:rPr lang="en-US" sz="2300" spc="9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Takeaway:</a:t>
            </a:r>
          </a:p>
          <a:p>
            <a:pPr algn="ctr">
              <a:lnSpc>
                <a:spcPts val="2760"/>
              </a:lnSpc>
            </a:pPr>
            <a:r>
              <a:rPr lang="en-US" sz="2300" spc="92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Market becoming more competitive and innovation-driven</a:t>
            </a:r>
          </a:p>
          <a:p>
            <a:pPr algn="ctr">
              <a:lnSpc>
                <a:spcPts val="276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716827" y="797066"/>
            <a:ext cx="685434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1"/>
              </a:lnSpc>
              <a:spcBef>
                <a:spcPct val="0"/>
              </a:spcBef>
            </a:pPr>
            <a:r>
              <a:rPr lang="en-US" sz="5376" spc="-13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Competitive Landscape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6182389" y="6343650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5780146" y="782939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4725380" y="6809588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960241" y="-467122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22874" y="2596786"/>
            <a:ext cx="15263959" cy="6097913"/>
            <a:chOff x="0" y="0"/>
            <a:chExt cx="20351946" cy="81305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238758" y="1672989"/>
              <a:ext cx="4845386" cy="64575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Market leader with 56.4% share in traditional sutures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Global scale: 128k employees, 250 companies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Leadership in 80% of MedTech platf</a:t>
              </a: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orms</a:t>
              </a:r>
            </a:p>
            <a:p>
              <a:pPr algn="l">
                <a:lnSpc>
                  <a:spcPts val="2605"/>
                </a:lnSpc>
                <a:spcBef>
                  <a:spcPct val="0"/>
                </a:spcBef>
              </a:pPr>
            </a:p>
            <a:p>
              <a:pPr algn="l" marL="407565" indent="-203783" lvl="1">
                <a:lnSpc>
                  <a:spcPts val="260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Strong quality, reliability, and patient outcome reputation</a:t>
              </a:r>
            </a:p>
            <a:p>
              <a:pPr algn="l">
                <a:lnSpc>
                  <a:spcPts val="2605"/>
                </a:lnSpc>
                <a:spcBef>
                  <a:spcPct val="0"/>
                </a:spcBef>
              </a:pPr>
            </a:p>
            <a:p>
              <a:pPr algn="l">
                <a:lnSpc>
                  <a:spcPts val="2605"/>
                </a:lnSpc>
                <a:spcBef>
                  <a:spcPct val="0"/>
                </a:spcBef>
              </a:pPr>
            </a:p>
            <a:p>
              <a:pPr algn="ctr">
                <a:lnSpc>
                  <a:spcPts val="2605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330587" y="1672989"/>
              <a:ext cx="4845386" cy="55939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No barbed sutures; competitors already FDA-approved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Plant at 100% capacity limits growth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High capital needs for expansion/new plant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3–5 year internal manufacturing timeline</a:t>
              </a:r>
            </a:p>
            <a:p>
              <a:pPr algn="l">
                <a:lnSpc>
                  <a:spcPts val="2605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427431" y="796689"/>
              <a:ext cx="4845386" cy="68893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5"/>
                </a:lnSpc>
              </a:pP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First-mover potential in spiral sutures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Ability to grow beyond 56.4% share with premium innovation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New marketing channels (conferences, demos, training)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Outsourcing enables immediate revenue</a:t>
              </a:r>
            </a:p>
            <a:p>
              <a:pPr algn="l">
                <a:lnSpc>
                  <a:spcPts val="2605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5501417" y="1672989"/>
              <a:ext cx="4845386" cy="60257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Strong competito</a:t>
              </a: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rs (Crius Poseidon, Athena Kronos)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Subst</a:t>
              </a: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itute tech (staples, adhesives)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Regu</a:t>
              </a: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latory complexity &amp; cost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Pricing pressure + rising material costs</a:t>
              </a:r>
            </a:p>
            <a:p>
              <a:pPr algn="l">
                <a:lnSpc>
                  <a:spcPts val="2605"/>
                </a:lnSpc>
              </a:pPr>
            </a:p>
            <a:p>
              <a:pPr algn="l" marL="407565" indent="-203783" lvl="1">
                <a:lnSpc>
                  <a:spcPts val="2605"/>
                </a:lnSpc>
                <a:buFont typeface="Arial"/>
                <a:buChar char="•"/>
              </a:pPr>
              <a:r>
                <a:rPr lang="en-US" sz="1887" spc="75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Disruptive innovation from smaller players</a:t>
              </a:r>
            </a:p>
            <a:p>
              <a:pPr algn="l">
                <a:lnSpc>
                  <a:spcPts val="2605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0" y="0"/>
          <a:ext cx="15263959" cy="6097913"/>
        </p:xfrm>
        <a:graphic>
          <a:graphicData uri="http://schemas.openxmlformats.org/drawingml/2006/table">
            <a:tbl>
              <a:tblPr/>
              <a:tblGrid>
                <a:gridCol w="3815990"/>
                <a:gridCol w="3815990"/>
                <a:gridCol w="3815990"/>
                <a:gridCol w="3815990"/>
              </a:tblGrid>
              <a:tr h="1006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r>
                        <a:rPr lang="en-US" sz="2787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Threats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r>
                        <a:rPr lang="en-US" sz="2787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Strengths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r>
                        <a:rPr lang="en-US" sz="2787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Weaknesses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r>
                        <a:rPr lang="en-US" sz="2787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Opportunities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</a:tr>
              <a:tr h="50914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51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02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5407588" y="1028700"/>
            <a:ext cx="749453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 spc="-16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A&amp;A </a:t>
            </a:r>
            <a:r>
              <a:rPr lang="en-US" sz="6570" spc="-16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SWOT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3801" y="2334508"/>
            <a:ext cx="1533489" cy="153348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FA655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14394" y="5143500"/>
            <a:ext cx="1533489" cy="153348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FA655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394" y="7788991"/>
            <a:ext cx="1533489" cy="15334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FA65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5872565" y="8307690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303258" y="410128"/>
            <a:ext cx="11090121" cy="9603545"/>
            <a:chOff x="0" y="0"/>
            <a:chExt cx="4282440" cy="370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14887" t="0" r="-14887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303258" y="410128"/>
            <a:ext cx="11090121" cy="9603545"/>
            <a:chOff x="0" y="0"/>
            <a:chExt cx="4282440" cy="370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-14887" t="0" r="-14887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1325722" y="514137"/>
            <a:ext cx="1224824" cy="12248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26211" t="0" r="-12621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190021" y="-113796"/>
            <a:ext cx="12010783" cy="10400796"/>
            <a:chOff x="0" y="0"/>
            <a:chExt cx="4282440" cy="370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7"/>
              <a:stretch>
                <a:fillRect l="-102591" t="0" r="-102591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2132177" y="2704731"/>
            <a:ext cx="801790" cy="793043"/>
          </a:xfrm>
          <a:custGeom>
            <a:avLst/>
            <a:gdLst/>
            <a:ahLst/>
            <a:cxnLst/>
            <a:rect r="r" b="b" t="t" l="l"/>
            <a:pathLst>
              <a:path h="793043" w="801790">
                <a:moveTo>
                  <a:pt x="0" y="0"/>
                </a:moveTo>
                <a:lnTo>
                  <a:pt x="801790" y="0"/>
                </a:lnTo>
                <a:lnTo>
                  <a:pt x="801790" y="793043"/>
                </a:lnTo>
                <a:lnTo>
                  <a:pt x="0" y="7930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169709" y="5465749"/>
            <a:ext cx="748369" cy="888991"/>
          </a:xfrm>
          <a:custGeom>
            <a:avLst/>
            <a:gdLst/>
            <a:ahLst/>
            <a:cxnLst/>
            <a:rect r="r" b="b" t="t" l="l"/>
            <a:pathLst>
              <a:path h="888991" w="748369">
                <a:moveTo>
                  <a:pt x="0" y="0"/>
                </a:moveTo>
                <a:lnTo>
                  <a:pt x="748369" y="0"/>
                </a:lnTo>
                <a:lnTo>
                  <a:pt x="748369" y="888991"/>
                </a:lnTo>
                <a:lnTo>
                  <a:pt x="0" y="8889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93134" y="8113991"/>
            <a:ext cx="901519" cy="883489"/>
          </a:xfrm>
          <a:custGeom>
            <a:avLst/>
            <a:gdLst/>
            <a:ahLst/>
            <a:cxnLst/>
            <a:rect r="r" b="b" t="t" l="l"/>
            <a:pathLst>
              <a:path h="883489" w="901519">
                <a:moveTo>
                  <a:pt x="0" y="0"/>
                </a:moveTo>
                <a:lnTo>
                  <a:pt x="901519" y="0"/>
                </a:lnTo>
                <a:lnTo>
                  <a:pt x="901519" y="883488"/>
                </a:lnTo>
                <a:lnTo>
                  <a:pt x="0" y="8834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674371" y="705126"/>
            <a:ext cx="951552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8"/>
              </a:lnSpc>
              <a:spcBef>
                <a:spcPct val="0"/>
              </a:spcBef>
            </a:pP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C</a:t>
            </a: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redo Alignment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72176" y="2258308"/>
            <a:ext cx="5954170" cy="130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377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Patient Value &amp; Quality</a:t>
            </a:r>
          </a:p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591567" y="3024138"/>
            <a:ext cx="7314810" cy="259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Red</a:t>
            </a: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uces surgery time → improves outcomes and lowers total cost of care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Lowers infection risk → reduces complications and readmissions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Premium pricing aligned with clinical value, not cost alone</a:t>
            </a:r>
          </a:p>
          <a:p>
            <a:pPr algn="l">
              <a:lnSpc>
                <a:spcPts val="2980"/>
              </a:lnSpc>
            </a:pPr>
          </a:p>
          <a:p>
            <a:pPr algn="l">
              <a:lnSpc>
                <a:spcPts val="298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3572176" y="5084204"/>
            <a:ext cx="4923258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Access &amp; Innovation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91567" y="5793559"/>
            <a:ext cx="7561093" cy="259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IP acquisitio</a:t>
            </a: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 → enables immediate market entry and broader access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Gold marketing accelerates adoption and expands hospital access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Scalable capacity from new plant supports growing demand</a:t>
            </a:r>
          </a:p>
          <a:p>
            <a:pPr algn="l">
              <a:lnSpc>
                <a:spcPts val="2980"/>
              </a:lnSpc>
            </a:pPr>
          </a:p>
          <a:p>
            <a:pPr algn="l">
              <a:lnSpc>
                <a:spcPts val="298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3708716" y="7855995"/>
            <a:ext cx="5681090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Stakeholder Impact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72176" y="8563436"/>
            <a:ext cx="6727519" cy="147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Pa</a:t>
            </a: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tients: Better outcomes, fewer infections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Employees: Workforce stability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Community: Greater surgical access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Stockholders: NPV $24.7M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4371" y="705126"/>
            <a:ext cx="951552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8"/>
              </a:lnSpc>
            </a:pP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Strategy Overview</a:t>
            </a:r>
          </a:p>
          <a:p>
            <a:pPr algn="ctr" marL="0" indent="0" lvl="0">
              <a:lnSpc>
                <a:spcPts val="7648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731867" y="2173648"/>
            <a:ext cx="1533489" cy="153348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1046" y="4489809"/>
            <a:ext cx="1533489" cy="153348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1046" y="6949360"/>
            <a:ext cx="1533489" cy="153348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041307" y="2493909"/>
            <a:ext cx="892966" cy="892966"/>
          </a:xfrm>
          <a:custGeom>
            <a:avLst/>
            <a:gdLst/>
            <a:ahLst/>
            <a:cxnLst/>
            <a:rect r="r" b="b" t="t" l="l"/>
            <a:pathLst>
              <a:path h="892966" w="892966">
                <a:moveTo>
                  <a:pt x="0" y="0"/>
                </a:moveTo>
                <a:lnTo>
                  <a:pt x="892967" y="0"/>
                </a:lnTo>
                <a:lnTo>
                  <a:pt x="892967" y="892967"/>
                </a:lnTo>
                <a:lnTo>
                  <a:pt x="0" y="8929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93548" y="4852014"/>
            <a:ext cx="788485" cy="809080"/>
          </a:xfrm>
          <a:custGeom>
            <a:avLst/>
            <a:gdLst/>
            <a:ahLst/>
            <a:cxnLst/>
            <a:rect r="r" b="b" t="t" l="l"/>
            <a:pathLst>
              <a:path h="809080" w="788485">
                <a:moveTo>
                  <a:pt x="0" y="0"/>
                </a:moveTo>
                <a:lnTo>
                  <a:pt x="788485" y="0"/>
                </a:lnTo>
                <a:lnTo>
                  <a:pt x="788485" y="809080"/>
                </a:lnTo>
                <a:lnTo>
                  <a:pt x="0" y="809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55682" y="7286352"/>
            <a:ext cx="864218" cy="859504"/>
          </a:xfrm>
          <a:custGeom>
            <a:avLst/>
            <a:gdLst/>
            <a:ahLst/>
            <a:cxnLst/>
            <a:rect r="r" b="b" t="t" l="l"/>
            <a:pathLst>
              <a:path h="859504" w="864218">
                <a:moveTo>
                  <a:pt x="0" y="0"/>
                </a:moveTo>
                <a:lnTo>
                  <a:pt x="864218" y="0"/>
                </a:lnTo>
                <a:lnTo>
                  <a:pt x="864218" y="859504"/>
                </a:lnTo>
                <a:lnTo>
                  <a:pt x="0" y="8595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872565" y="8307690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303258" y="410128"/>
            <a:ext cx="11090121" cy="9603545"/>
            <a:chOff x="0" y="0"/>
            <a:chExt cx="4282440" cy="370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10"/>
              <a:stretch>
                <a:fillRect l="-14887" t="0" r="-1488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03258" y="410128"/>
            <a:ext cx="11090121" cy="9603545"/>
            <a:chOff x="0" y="0"/>
            <a:chExt cx="4282440" cy="370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11"/>
              <a:stretch>
                <a:fillRect l="-102591" t="0" r="-10259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5400000">
            <a:off x="1325722" y="514137"/>
            <a:ext cx="1224824" cy="122482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126211" t="0" r="-12621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572176" y="2258308"/>
            <a:ext cx="5954170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Symmetrical sutures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91567" y="3024138"/>
            <a:ext cx="6727519" cy="110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</a:t>
            </a: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urchase IP for symmetrical sutures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Factory in Georgia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Defensive product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72176" y="4697074"/>
            <a:ext cx="4923258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Spiral sutures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91567" y="5406430"/>
            <a:ext cx="6727519" cy="110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</a:t>
            </a: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nternally develop spiral sutures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Capture premium pricing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Differentiated demand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52786" y="7068958"/>
            <a:ext cx="5719872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Combined strategy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72176" y="7778313"/>
            <a:ext cx="6727519" cy="147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Pa</a:t>
            </a: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ir fast entry with long-term innovation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High pricing → maximize margins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Gold marketing → drive adoption</a:t>
            </a:r>
          </a:p>
          <a:p>
            <a:pPr algn="l">
              <a:lnSpc>
                <a:spcPts val="2980"/>
              </a:lnSpc>
            </a:pPr>
          </a:p>
        </p:txBody>
      </p:sp>
      <p:grpSp>
        <p:nvGrpSpPr>
          <p:cNvPr name="Group 28" id="28"/>
          <p:cNvGrpSpPr/>
          <p:nvPr/>
        </p:nvGrpSpPr>
        <p:grpSpPr>
          <a:xfrm rot="0">
            <a:off x="13051843" y="-348385"/>
            <a:ext cx="12010783" cy="10400796"/>
            <a:chOff x="0" y="0"/>
            <a:chExt cx="4282440" cy="3708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11"/>
              <a:stretch>
                <a:fillRect l="-102591" t="0" r="-102591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99399" y="75452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5727" t="0" r="-157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400110" y="75452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400110" y="-314269"/>
            <a:ext cx="12010783" cy="10400796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44605" y="3914112"/>
            <a:ext cx="2446183" cy="2446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200025" cap="sq">
              <a:solidFill>
                <a:srgbClr val="FA6559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985764" y="1878324"/>
            <a:ext cx="8774085" cy="8020624"/>
            <a:chOff x="0" y="0"/>
            <a:chExt cx="2310870" cy="2112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0870" cy="2112428"/>
            </a:xfrm>
            <a:custGeom>
              <a:avLst/>
              <a:gdLst/>
              <a:ahLst/>
              <a:cxnLst/>
              <a:rect r="r" b="b" t="t" l="l"/>
              <a:pathLst>
                <a:path h="2112428" w="2310870">
                  <a:moveTo>
                    <a:pt x="45000" y="0"/>
                  </a:moveTo>
                  <a:lnTo>
                    <a:pt x="2265870" y="0"/>
                  </a:lnTo>
                  <a:cubicBezTo>
                    <a:pt x="2277805" y="0"/>
                    <a:pt x="2289251" y="4741"/>
                    <a:pt x="2297690" y="13180"/>
                  </a:cubicBezTo>
                  <a:cubicBezTo>
                    <a:pt x="2306129" y="21620"/>
                    <a:pt x="2310870" y="33066"/>
                    <a:pt x="2310870" y="45000"/>
                  </a:cubicBezTo>
                  <a:lnTo>
                    <a:pt x="2310870" y="2067427"/>
                  </a:lnTo>
                  <a:cubicBezTo>
                    <a:pt x="2310870" y="2079362"/>
                    <a:pt x="2306129" y="2090808"/>
                    <a:pt x="2297690" y="2099247"/>
                  </a:cubicBezTo>
                  <a:cubicBezTo>
                    <a:pt x="2289251" y="2107686"/>
                    <a:pt x="2277805" y="2112428"/>
                    <a:pt x="2265870" y="2112428"/>
                  </a:cubicBezTo>
                  <a:lnTo>
                    <a:pt x="45000" y="2112428"/>
                  </a:lnTo>
                  <a:cubicBezTo>
                    <a:pt x="33066" y="2112428"/>
                    <a:pt x="21620" y="2107686"/>
                    <a:pt x="13180" y="2099247"/>
                  </a:cubicBezTo>
                  <a:cubicBezTo>
                    <a:pt x="4741" y="2090808"/>
                    <a:pt x="0" y="2079362"/>
                    <a:pt x="0" y="2067427"/>
                  </a:cubicBezTo>
                  <a:lnTo>
                    <a:pt x="0" y="45000"/>
                  </a:lnTo>
                  <a:cubicBezTo>
                    <a:pt x="0" y="33066"/>
                    <a:pt x="4741" y="21620"/>
                    <a:pt x="13180" y="13180"/>
                  </a:cubicBezTo>
                  <a:cubicBezTo>
                    <a:pt x="21620" y="4741"/>
                    <a:pt x="33066" y="0"/>
                    <a:pt x="45000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10870" cy="215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366850" y="2343810"/>
            <a:ext cx="8007700" cy="908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R&amp;D Strategy:</a:t>
            </a:r>
          </a:p>
          <a:p>
            <a:pPr algn="l" marL="620212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Symmetrical (IP) → immediate revenue + market defense</a:t>
            </a:r>
          </a:p>
          <a:p>
            <a:pPr algn="l" marL="620212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Spiral (internal) → first-mover advantage + premium growth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Financial Impact:</a:t>
            </a:r>
          </a:p>
          <a:p>
            <a:pPr algn="l" marL="620212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Protects Current Marketshare</a:t>
            </a:r>
          </a:p>
          <a:p>
            <a:pPr algn="l" marL="620212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Stronger long-term profitability</a:t>
            </a:r>
          </a:p>
          <a:p>
            <a:pPr algn="l" marL="620212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Supports reinvestment into innovation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Tradeoff:</a:t>
            </a:r>
          </a:p>
          <a:p>
            <a:pPr algn="l" marL="620212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Lower adoption initially → mitigated by marketing</a:t>
            </a: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</a:p>
          <a:p>
            <a:pPr algn="l">
              <a:lnSpc>
                <a:spcPts val="3964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236564" y="4734066"/>
            <a:ext cx="1462263" cy="818868"/>
          </a:xfrm>
          <a:custGeom>
            <a:avLst/>
            <a:gdLst/>
            <a:ahLst/>
            <a:cxnLst/>
            <a:rect r="r" b="b" t="t" l="l"/>
            <a:pathLst>
              <a:path h="818868" w="1462263">
                <a:moveTo>
                  <a:pt x="0" y="0"/>
                </a:moveTo>
                <a:lnTo>
                  <a:pt x="1462264" y="0"/>
                </a:lnTo>
                <a:lnTo>
                  <a:pt x="1462264" y="818868"/>
                </a:lnTo>
                <a:lnTo>
                  <a:pt x="0" y="81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33527" y="626487"/>
            <a:ext cx="747855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 spc="-16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R&amp;D + Price Strategy</a:t>
            </a:r>
          </a:p>
        </p:txBody>
      </p:sp>
      <p:grpSp>
        <p:nvGrpSpPr>
          <p:cNvPr name="Group 17" id="17"/>
          <p:cNvGrpSpPr/>
          <p:nvPr/>
        </p:nvGrpSpPr>
        <p:grpSpPr>
          <a:xfrm rot="5400000">
            <a:off x="7192076" y="514137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76175" y="2812805"/>
            <a:ext cx="4893526" cy="48935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31" t="0" r="-2493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76175" y="2812805"/>
            <a:ext cx="4893526" cy="489352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6382" y="1762351"/>
            <a:ext cx="9610138" cy="7925240"/>
            <a:chOff x="0" y="0"/>
            <a:chExt cx="2531065" cy="20873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1065" cy="2087306"/>
            </a:xfrm>
            <a:custGeom>
              <a:avLst/>
              <a:gdLst/>
              <a:ahLst/>
              <a:cxnLst/>
              <a:rect r="r" b="b" t="t" l="l"/>
              <a:pathLst>
                <a:path h="2087306" w="2531065">
                  <a:moveTo>
                    <a:pt x="41086" y="0"/>
                  </a:moveTo>
                  <a:lnTo>
                    <a:pt x="2489980" y="0"/>
                  </a:lnTo>
                  <a:cubicBezTo>
                    <a:pt x="2500876" y="0"/>
                    <a:pt x="2511327" y="4329"/>
                    <a:pt x="2519032" y="12034"/>
                  </a:cubicBezTo>
                  <a:cubicBezTo>
                    <a:pt x="2526737" y="19739"/>
                    <a:pt x="2531065" y="30189"/>
                    <a:pt x="2531065" y="41086"/>
                  </a:cubicBezTo>
                  <a:lnTo>
                    <a:pt x="2531065" y="2046221"/>
                  </a:lnTo>
                  <a:cubicBezTo>
                    <a:pt x="2531065" y="2057117"/>
                    <a:pt x="2526737" y="2067567"/>
                    <a:pt x="2519032" y="2075272"/>
                  </a:cubicBezTo>
                  <a:cubicBezTo>
                    <a:pt x="2511327" y="2082978"/>
                    <a:pt x="2500876" y="2087306"/>
                    <a:pt x="2489980" y="2087306"/>
                  </a:cubicBezTo>
                  <a:lnTo>
                    <a:pt x="41086" y="2087306"/>
                  </a:lnTo>
                  <a:cubicBezTo>
                    <a:pt x="30189" y="2087306"/>
                    <a:pt x="19739" y="2082978"/>
                    <a:pt x="12034" y="2075272"/>
                  </a:cubicBezTo>
                  <a:cubicBezTo>
                    <a:pt x="4329" y="2067567"/>
                    <a:pt x="0" y="2057117"/>
                    <a:pt x="0" y="2046221"/>
                  </a:cubicBezTo>
                  <a:lnTo>
                    <a:pt x="0" y="41086"/>
                  </a:lnTo>
                  <a:cubicBezTo>
                    <a:pt x="0" y="30189"/>
                    <a:pt x="4329" y="19739"/>
                    <a:pt x="12034" y="12034"/>
                  </a:cubicBezTo>
                  <a:cubicBezTo>
                    <a:pt x="19739" y="4329"/>
                    <a:pt x="30189" y="0"/>
                    <a:pt x="41086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31065" cy="212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76216" y="2010542"/>
            <a:ext cx="10228534" cy="761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Recommendation: </a:t>
            </a:r>
            <a:r>
              <a:rPr lang="en-US" sz="2872" spc="11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Gold-tier marketing</a:t>
            </a:r>
          </a:p>
          <a:p>
            <a:pPr algn="l">
              <a:lnSpc>
                <a:spcPts val="1204"/>
              </a:lnSpc>
            </a:pPr>
          </a:p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Why it matters: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Surgeons are resistant to change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Adoption requires training + trust</a:t>
            </a:r>
          </a:p>
          <a:p>
            <a:pPr algn="l">
              <a:lnSpc>
                <a:spcPts val="1380"/>
              </a:lnSpc>
            </a:pPr>
          </a:p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Execution: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</a:t>
            </a: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onferences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Live demonstrations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Direct surgeon engagement</a:t>
            </a:r>
          </a:p>
          <a:p>
            <a:pPr algn="l">
              <a:lnSpc>
                <a:spcPts val="1380"/>
              </a:lnSpc>
            </a:pPr>
          </a:p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Impact: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Accelerates adoption curve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Inc</a:t>
            </a: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reases market penetration</a:t>
            </a:r>
          </a:p>
          <a:p>
            <a:pPr algn="l" marL="620211" indent="-310106" lvl="1">
              <a:lnSpc>
                <a:spcPts val="3964"/>
              </a:lnSpc>
              <a:buFont typeface="Arial"/>
              <a:buChar char="•"/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Justifies premium pricing</a:t>
            </a:r>
          </a:p>
          <a:p>
            <a:pPr algn="l">
              <a:lnSpc>
                <a:spcPts val="1380"/>
              </a:lnSpc>
            </a:pPr>
          </a:p>
          <a:p>
            <a:pPr algn="l">
              <a:lnSpc>
                <a:spcPts val="3964"/>
              </a:lnSpc>
            </a:pPr>
            <a:r>
              <a:rPr lang="en-US" sz="2872" spc="11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In healthcare, </a:t>
            </a:r>
            <a:r>
              <a:rPr lang="en-US" sz="2872" spc="11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credibility drives demand</a:t>
            </a:r>
          </a:p>
          <a:p>
            <a:pPr algn="l">
              <a:lnSpc>
                <a:spcPts val="3964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787826" y="-6350524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5400000">
            <a:off x="1028700" y="331492"/>
            <a:ext cx="1224824" cy="12248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920976" y="886780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67824" y="413316"/>
            <a:ext cx="771204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7500" spc="-187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Marketing Strategy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97738" y="-396717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22882" y="825848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1262967" y="492698"/>
            <a:ext cx="1224824" cy="122482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887999" y="429073"/>
            <a:ext cx="11090121" cy="9603545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-15243" t="0" r="-1524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727953" y="410128"/>
            <a:ext cx="11090121" cy="9603545"/>
            <a:chOff x="0" y="0"/>
            <a:chExt cx="4282440" cy="370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102591" t="0" r="-10259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40233" y="4397613"/>
            <a:ext cx="975272" cy="900431"/>
            <a:chOff x="0" y="0"/>
            <a:chExt cx="880358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0358" cy="812800"/>
            </a:xfrm>
            <a:custGeom>
              <a:avLst/>
              <a:gdLst/>
              <a:ahLst/>
              <a:cxnLst/>
              <a:rect r="r" b="b" t="t" l="l"/>
              <a:pathLst>
                <a:path h="812800" w="880358">
                  <a:moveTo>
                    <a:pt x="440179" y="0"/>
                  </a:moveTo>
                  <a:cubicBezTo>
                    <a:pt x="197075" y="0"/>
                    <a:pt x="0" y="181951"/>
                    <a:pt x="0" y="406400"/>
                  </a:cubicBezTo>
                  <a:cubicBezTo>
                    <a:pt x="0" y="630849"/>
                    <a:pt x="197075" y="812800"/>
                    <a:pt x="440179" y="812800"/>
                  </a:cubicBezTo>
                  <a:cubicBezTo>
                    <a:pt x="683283" y="812800"/>
                    <a:pt x="880358" y="630849"/>
                    <a:pt x="880358" y="406400"/>
                  </a:cubicBezTo>
                  <a:cubicBezTo>
                    <a:pt x="880358" y="181951"/>
                    <a:pt x="683283" y="0"/>
                    <a:pt x="440179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82534" y="28575"/>
              <a:ext cx="715291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39417" y="6691895"/>
            <a:ext cx="967614" cy="967614"/>
            <a:chOff x="0" y="0"/>
            <a:chExt cx="1290151" cy="129015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90151" cy="129015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BE4EB"/>
              </a:solidFill>
              <a:ln w="95250" cap="sq">
                <a:solidFill>
                  <a:srgbClr val="051D4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330324" y="273158"/>
              <a:ext cx="687033" cy="743835"/>
            </a:xfrm>
            <a:custGeom>
              <a:avLst/>
              <a:gdLst/>
              <a:ahLst/>
              <a:cxnLst/>
              <a:rect r="r" b="b" t="t" l="l"/>
              <a:pathLst>
                <a:path h="743835" w="687033">
                  <a:moveTo>
                    <a:pt x="0" y="0"/>
                  </a:moveTo>
                  <a:lnTo>
                    <a:pt x="687033" y="0"/>
                  </a:lnTo>
                  <a:lnTo>
                    <a:pt x="687033" y="743835"/>
                  </a:lnTo>
                  <a:lnTo>
                    <a:pt x="0" y="74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259867" y="4596055"/>
            <a:ext cx="336004" cy="503548"/>
          </a:xfrm>
          <a:custGeom>
            <a:avLst/>
            <a:gdLst/>
            <a:ahLst/>
            <a:cxnLst/>
            <a:rect r="r" b="b" t="t" l="l"/>
            <a:pathLst>
              <a:path h="503548" w="336004">
                <a:moveTo>
                  <a:pt x="0" y="0"/>
                </a:moveTo>
                <a:lnTo>
                  <a:pt x="336004" y="0"/>
                </a:lnTo>
                <a:lnTo>
                  <a:pt x="336004" y="503548"/>
                </a:lnTo>
                <a:lnTo>
                  <a:pt x="0" y="5035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994308" y="1170504"/>
            <a:ext cx="9515525" cy="95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48"/>
              </a:lnSpc>
              <a:spcBef>
                <a:spcPct val="0"/>
              </a:spcBef>
            </a:pP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Supply Chain Strategy</a:t>
            </a:r>
          </a:p>
        </p:txBody>
      </p:sp>
      <p:grpSp>
        <p:nvGrpSpPr>
          <p:cNvPr name="Group 20" id="20"/>
          <p:cNvGrpSpPr/>
          <p:nvPr/>
        </p:nvGrpSpPr>
        <p:grpSpPr>
          <a:xfrm rot="5400000">
            <a:off x="5714593" y="1028700"/>
            <a:ext cx="1224824" cy="122482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40233" y="2951517"/>
            <a:ext cx="1091134" cy="109113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190386" y="3167076"/>
            <a:ext cx="619654" cy="621916"/>
          </a:xfrm>
          <a:custGeom>
            <a:avLst/>
            <a:gdLst/>
            <a:ahLst/>
            <a:cxnLst/>
            <a:rect r="r" b="b" t="t" l="l"/>
            <a:pathLst>
              <a:path h="621916" w="619654">
                <a:moveTo>
                  <a:pt x="0" y="0"/>
                </a:moveTo>
                <a:lnTo>
                  <a:pt x="619655" y="0"/>
                </a:lnTo>
                <a:lnTo>
                  <a:pt x="619655" y="621916"/>
                </a:lnTo>
                <a:lnTo>
                  <a:pt x="0" y="6219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292903" y="3090876"/>
            <a:ext cx="8966397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Recommendation: </a:t>
            </a:r>
            <a:r>
              <a:rPr lang="en-US" sz="377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New Plant Construction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52245" y="4321413"/>
            <a:ext cx="4923258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Why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71636" y="5030769"/>
            <a:ext cx="6727519" cy="110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Highest product quality + consistency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Purpose-built for barbed sutures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Maximizes scalability + reliability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92903" y="6718967"/>
            <a:ext cx="5719872" cy="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8"/>
              </a:lnSpc>
              <a:spcBef>
                <a:spcPct val="0"/>
              </a:spcBef>
            </a:pPr>
            <a:r>
              <a:rPr lang="en-US" sz="3774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Financial Advantage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312294" y="7437847"/>
            <a:ext cx="6727519" cy="185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Leads to ~90% market share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Enhances profitability + financial strength</a:t>
            </a:r>
          </a:p>
          <a:p>
            <a:pPr algn="l" marL="466243" indent="-233122" lvl="1">
              <a:lnSpc>
                <a:spcPts val="2980"/>
              </a:lnSpc>
              <a:buFont typeface="Arial"/>
              <a:buChar char="•"/>
            </a:pPr>
            <a:r>
              <a:rPr lang="en-US" sz="2159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Enables efficient future expansion</a:t>
            </a:r>
          </a:p>
          <a:p>
            <a:pPr algn="l">
              <a:lnSpc>
                <a:spcPts val="2980"/>
              </a:lnSpc>
            </a:pPr>
          </a:p>
          <a:p>
            <a:pPr algn="l">
              <a:lnSpc>
                <a:spcPts val="298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41825" y="2696737"/>
            <a:ext cx="4893526" cy="48935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31" t="0" r="-2493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41825" y="2696737"/>
            <a:ext cx="4893526" cy="489352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25722" y="514137"/>
            <a:ext cx="1224824" cy="12248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976437" y="778055"/>
            <a:ext cx="11776587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59"/>
              </a:lnSpc>
              <a:spcBef>
                <a:spcPct val="0"/>
              </a:spcBef>
            </a:pPr>
            <a:r>
              <a:rPr lang="en-US" sz="5799" spc="-14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Human Capital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0591" y="2104789"/>
            <a:ext cx="9610138" cy="7925240"/>
            <a:chOff x="0" y="0"/>
            <a:chExt cx="2531065" cy="20873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1065" cy="2087306"/>
            </a:xfrm>
            <a:custGeom>
              <a:avLst/>
              <a:gdLst/>
              <a:ahLst/>
              <a:cxnLst/>
              <a:rect r="r" b="b" t="t" l="l"/>
              <a:pathLst>
                <a:path h="2087306" w="2531065">
                  <a:moveTo>
                    <a:pt x="41086" y="0"/>
                  </a:moveTo>
                  <a:lnTo>
                    <a:pt x="2489980" y="0"/>
                  </a:lnTo>
                  <a:cubicBezTo>
                    <a:pt x="2500876" y="0"/>
                    <a:pt x="2511327" y="4329"/>
                    <a:pt x="2519032" y="12034"/>
                  </a:cubicBezTo>
                  <a:cubicBezTo>
                    <a:pt x="2526737" y="19739"/>
                    <a:pt x="2531065" y="30189"/>
                    <a:pt x="2531065" y="41086"/>
                  </a:cubicBezTo>
                  <a:lnTo>
                    <a:pt x="2531065" y="2046221"/>
                  </a:lnTo>
                  <a:cubicBezTo>
                    <a:pt x="2531065" y="2057117"/>
                    <a:pt x="2526737" y="2067567"/>
                    <a:pt x="2519032" y="2075272"/>
                  </a:cubicBezTo>
                  <a:cubicBezTo>
                    <a:pt x="2511327" y="2082978"/>
                    <a:pt x="2500876" y="2087306"/>
                    <a:pt x="2489980" y="2087306"/>
                  </a:cubicBezTo>
                  <a:lnTo>
                    <a:pt x="41086" y="2087306"/>
                  </a:lnTo>
                  <a:cubicBezTo>
                    <a:pt x="30189" y="2087306"/>
                    <a:pt x="19739" y="2082978"/>
                    <a:pt x="12034" y="2075272"/>
                  </a:cubicBezTo>
                  <a:cubicBezTo>
                    <a:pt x="4329" y="2067567"/>
                    <a:pt x="0" y="2057117"/>
                    <a:pt x="0" y="2046221"/>
                  </a:cubicBezTo>
                  <a:lnTo>
                    <a:pt x="0" y="41086"/>
                  </a:lnTo>
                  <a:cubicBezTo>
                    <a:pt x="0" y="30189"/>
                    <a:pt x="4329" y="19739"/>
                    <a:pt x="12034" y="12034"/>
                  </a:cubicBezTo>
                  <a:cubicBezTo>
                    <a:pt x="19739" y="4329"/>
                    <a:pt x="30189" y="0"/>
                    <a:pt x="41086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31065" cy="212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43563" y="2444518"/>
            <a:ext cx="8764195" cy="720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</a:pPr>
            <a:r>
              <a:rPr lang="en-US" sz="2688" spc="1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</a:t>
            </a:r>
            <a:r>
              <a:rPr lang="en-US" sz="2688" spc="1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table workforce → higher manufacturing expertise &amp; p</a:t>
            </a:r>
            <a:r>
              <a:rPr lang="en-US" sz="2688" spc="1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roduct consistency</a:t>
            </a:r>
          </a:p>
          <a:p>
            <a:pPr algn="l" marL="510869" indent="-255434" lvl="1">
              <a:lnSpc>
                <a:spcPts val="3265"/>
              </a:lnSpc>
              <a:buFont typeface="Arial"/>
              <a:buChar char="•"/>
            </a:pPr>
            <a:r>
              <a:rPr lang="en-US" sz="2366" spc="9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Aligns with Credo's focus on patient safety and quality</a:t>
            </a:r>
          </a:p>
          <a:p>
            <a:pPr algn="l">
              <a:lnSpc>
                <a:spcPts val="3710"/>
              </a:lnSpc>
            </a:pPr>
          </a:p>
          <a:p>
            <a:pPr algn="l">
              <a:lnSpc>
                <a:spcPts val="3710"/>
              </a:lnSpc>
            </a:pPr>
            <a:r>
              <a:rPr lang="en-US" sz="2688" spc="1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Supports long-term employee development &amp; retention</a:t>
            </a:r>
          </a:p>
          <a:p>
            <a:pPr algn="l" marL="510869" indent="-255434" lvl="1">
              <a:lnSpc>
                <a:spcPts val="3265"/>
              </a:lnSpc>
              <a:buFont typeface="Arial"/>
              <a:buChar char="•"/>
            </a:pPr>
            <a:r>
              <a:rPr lang="en-US" sz="2366" spc="9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 Reinforces respons</a:t>
            </a:r>
            <a:r>
              <a:rPr lang="en-US" sz="2366" spc="9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i</a:t>
            </a:r>
            <a:r>
              <a:rPr lang="en-US" sz="2366" spc="9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bility to employees and job stability</a:t>
            </a:r>
          </a:p>
          <a:p>
            <a:pPr algn="l">
              <a:lnSpc>
                <a:spcPts val="3710"/>
              </a:lnSpc>
            </a:pPr>
          </a:p>
          <a:p>
            <a:pPr algn="l">
              <a:lnSpc>
                <a:spcPts val="3710"/>
              </a:lnSpc>
            </a:pPr>
            <a:r>
              <a:rPr lang="en-US" sz="2688" spc="1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Improves operational reliability &amp; execution consistency</a:t>
            </a:r>
          </a:p>
          <a:p>
            <a:pPr algn="l" marL="510869" indent="-255434" lvl="1">
              <a:lnSpc>
                <a:spcPts val="3265"/>
              </a:lnSpc>
              <a:buFont typeface="Arial"/>
              <a:buChar char="•"/>
            </a:pPr>
            <a:r>
              <a:rPr lang="en-US" sz="2366" spc="9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 Enables premium positioning in a high-quality product market</a:t>
            </a:r>
          </a:p>
          <a:p>
            <a:pPr algn="l">
              <a:lnSpc>
                <a:spcPts val="3710"/>
              </a:lnSpc>
            </a:pPr>
          </a:p>
          <a:p>
            <a:pPr algn="l">
              <a:lnSpc>
                <a:spcPts val="3710"/>
              </a:lnSpc>
            </a:pPr>
            <a:r>
              <a:rPr lang="en-US" sz="2688" spc="1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Balanced approach to quality, people, and long-term growth</a:t>
            </a:r>
          </a:p>
          <a:p>
            <a:pPr algn="l" marL="510869" indent="-255434" lvl="1">
              <a:lnSpc>
                <a:spcPts val="3265"/>
              </a:lnSpc>
              <a:buFont typeface="Arial"/>
              <a:buChar char="•"/>
            </a:pPr>
            <a:r>
              <a:rPr lang="en-US" sz="2366" spc="94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 Fully aligned with Credo-driven strategy</a:t>
            </a:r>
          </a:p>
          <a:p>
            <a:pPr algn="l">
              <a:lnSpc>
                <a:spcPts val="371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045558" y="-7495435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62868" y="9213544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4725380" y="6809588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2700000">
            <a:off x="3400395" y="-82097"/>
            <a:ext cx="11487210" cy="11466324"/>
          </a:xfrm>
          <a:custGeom>
            <a:avLst/>
            <a:gdLst/>
            <a:ahLst/>
            <a:cxnLst/>
            <a:rect r="r" b="b" t="t" l="l"/>
            <a:pathLst>
              <a:path h="11466324" w="11487210">
                <a:moveTo>
                  <a:pt x="0" y="0"/>
                </a:moveTo>
                <a:lnTo>
                  <a:pt x="11487210" y="0"/>
                </a:lnTo>
                <a:lnTo>
                  <a:pt x="11487210" y="11466324"/>
                </a:lnTo>
                <a:lnTo>
                  <a:pt x="0" y="1146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966874" y="3181542"/>
            <a:ext cx="3150193" cy="2139703"/>
            <a:chOff x="0" y="0"/>
            <a:chExt cx="901378" cy="6122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1378" cy="612242"/>
            </a:xfrm>
            <a:custGeom>
              <a:avLst/>
              <a:gdLst/>
              <a:ahLst/>
              <a:cxnLst/>
              <a:rect r="r" b="b" t="t" l="l"/>
              <a:pathLst>
                <a:path h="612242" w="901378">
                  <a:moveTo>
                    <a:pt x="78643" y="0"/>
                  </a:moveTo>
                  <a:lnTo>
                    <a:pt x="822735" y="0"/>
                  </a:lnTo>
                  <a:cubicBezTo>
                    <a:pt x="866168" y="0"/>
                    <a:pt x="901378" y="35210"/>
                    <a:pt x="901378" y="78643"/>
                  </a:cubicBezTo>
                  <a:lnTo>
                    <a:pt x="901378" y="533599"/>
                  </a:lnTo>
                  <a:cubicBezTo>
                    <a:pt x="901378" y="554457"/>
                    <a:pt x="893092" y="574460"/>
                    <a:pt x="878344" y="589208"/>
                  </a:cubicBezTo>
                  <a:cubicBezTo>
                    <a:pt x="863596" y="603957"/>
                    <a:pt x="843592" y="612242"/>
                    <a:pt x="822735" y="612242"/>
                  </a:cubicBezTo>
                  <a:lnTo>
                    <a:pt x="78643" y="612242"/>
                  </a:lnTo>
                  <a:cubicBezTo>
                    <a:pt x="35210" y="612242"/>
                    <a:pt x="0" y="577033"/>
                    <a:pt x="0" y="533599"/>
                  </a:cubicBezTo>
                  <a:lnTo>
                    <a:pt x="0" y="78643"/>
                  </a:lnTo>
                  <a:cubicBezTo>
                    <a:pt x="0" y="35210"/>
                    <a:pt x="35210" y="0"/>
                    <a:pt x="78643" y="0"/>
                  </a:cubicBezTo>
                  <a:close/>
                </a:path>
              </a:pathLst>
            </a:custGeom>
            <a:ln w="38100" cap="rnd">
              <a:solidFill>
                <a:srgbClr val="051D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01378" cy="65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00289" y="-5573056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616200" y="3099047"/>
            <a:ext cx="3150193" cy="2139703"/>
            <a:chOff x="0" y="0"/>
            <a:chExt cx="901378" cy="6122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1378" cy="612242"/>
            </a:xfrm>
            <a:custGeom>
              <a:avLst/>
              <a:gdLst/>
              <a:ahLst/>
              <a:cxnLst/>
              <a:rect r="r" b="b" t="t" l="l"/>
              <a:pathLst>
                <a:path h="612242" w="901378">
                  <a:moveTo>
                    <a:pt x="78643" y="0"/>
                  </a:moveTo>
                  <a:lnTo>
                    <a:pt x="822735" y="0"/>
                  </a:lnTo>
                  <a:cubicBezTo>
                    <a:pt x="866168" y="0"/>
                    <a:pt x="901378" y="35210"/>
                    <a:pt x="901378" y="78643"/>
                  </a:cubicBezTo>
                  <a:lnTo>
                    <a:pt x="901378" y="533599"/>
                  </a:lnTo>
                  <a:cubicBezTo>
                    <a:pt x="901378" y="554457"/>
                    <a:pt x="893092" y="574460"/>
                    <a:pt x="878344" y="589208"/>
                  </a:cubicBezTo>
                  <a:cubicBezTo>
                    <a:pt x="863596" y="603957"/>
                    <a:pt x="843592" y="612242"/>
                    <a:pt x="822735" y="612242"/>
                  </a:cubicBezTo>
                  <a:lnTo>
                    <a:pt x="78643" y="612242"/>
                  </a:lnTo>
                  <a:cubicBezTo>
                    <a:pt x="35210" y="612242"/>
                    <a:pt x="0" y="577033"/>
                    <a:pt x="0" y="533599"/>
                  </a:cubicBezTo>
                  <a:lnTo>
                    <a:pt x="0" y="78643"/>
                  </a:lnTo>
                  <a:cubicBezTo>
                    <a:pt x="0" y="35210"/>
                    <a:pt x="35210" y="0"/>
                    <a:pt x="78643" y="0"/>
                  </a:cubicBezTo>
                  <a:close/>
                </a:path>
              </a:pathLst>
            </a:custGeom>
            <a:ln w="38100" cap="rnd">
              <a:solidFill>
                <a:srgbClr val="051D4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01378" cy="65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44739" y="5942592"/>
            <a:ext cx="3150193" cy="2073028"/>
            <a:chOff x="0" y="0"/>
            <a:chExt cx="901378" cy="593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1378" cy="593164"/>
            </a:xfrm>
            <a:custGeom>
              <a:avLst/>
              <a:gdLst/>
              <a:ahLst/>
              <a:cxnLst/>
              <a:rect r="r" b="b" t="t" l="l"/>
              <a:pathLst>
                <a:path h="593164" w="901378">
                  <a:moveTo>
                    <a:pt x="78643" y="0"/>
                  </a:moveTo>
                  <a:lnTo>
                    <a:pt x="822735" y="0"/>
                  </a:lnTo>
                  <a:cubicBezTo>
                    <a:pt x="866168" y="0"/>
                    <a:pt x="901378" y="35210"/>
                    <a:pt x="901378" y="78643"/>
                  </a:cubicBezTo>
                  <a:lnTo>
                    <a:pt x="901378" y="514521"/>
                  </a:lnTo>
                  <a:cubicBezTo>
                    <a:pt x="901378" y="557955"/>
                    <a:pt x="866168" y="593164"/>
                    <a:pt x="822735" y="593164"/>
                  </a:cubicBezTo>
                  <a:lnTo>
                    <a:pt x="78643" y="593164"/>
                  </a:lnTo>
                  <a:cubicBezTo>
                    <a:pt x="35210" y="593164"/>
                    <a:pt x="0" y="557955"/>
                    <a:pt x="0" y="514521"/>
                  </a:cubicBezTo>
                  <a:lnTo>
                    <a:pt x="0" y="78643"/>
                  </a:lnTo>
                  <a:cubicBezTo>
                    <a:pt x="0" y="35210"/>
                    <a:pt x="35210" y="0"/>
                    <a:pt x="78643" y="0"/>
                  </a:cubicBezTo>
                  <a:close/>
                </a:path>
              </a:pathLst>
            </a:custGeom>
            <a:ln w="38100" cap="rnd">
              <a:solidFill>
                <a:srgbClr val="051D4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01378" cy="631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4087" y="5875917"/>
            <a:ext cx="3150193" cy="2139703"/>
            <a:chOff x="0" y="0"/>
            <a:chExt cx="901378" cy="6122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1378" cy="612242"/>
            </a:xfrm>
            <a:custGeom>
              <a:avLst/>
              <a:gdLst/>
              <a:ahLst/>
              <a:cxnLst/>
              <a:rect r="r" b="b" t="t" l="l"/>
              <a:pathLst>
                <a:path h="612242" w="901378">
                  <a:moveTo>
                    <a:pt x="78643" y="0"/>
                  </a:moveTo>
                  <a:lnTo>
                    <a:pt x="822735" y="0"/>
                  </a:lnTo>
                  <a:cubicBezTo>
                    <a:pt x="866168" y="0"/>
                    <a:pt x="901378" y="35210"/>
                    <a:pt x="901378" y="78643"/>
                  </a:cubicBezTo>
                  <a:lnTo>
                    <a:pt x="901378" y="533599"/>
                  </a:lnTo>
                  <a:cubicBezTo>
                    <a:pt x="901378" y="554457"/>
                    <a:pt x="893092" y="574460"/>
                    <a:pt x="878344" y="589208"/>
                  </a:cubicBezTo>
                  <a:cubicBezTo>
                    <a:pt x="863596" y="603957"/>
                    <a:pt x="843592" y="612242"/>
                    <a:pt x="822735" y="612242"/>
                  </a:cubicBezTo>
                  <a:lnTo>
                    <a:pt x="78643" y="612242"/>
                  </a:lnTo>
                  <a:cubicBezTo>
                    <a:pt x="35210" y="612242"/>
                    <a:pt x="0" y="577033"/>
                    <a:pt x="0" y="533599"/>
                  </a:cubicBezTo>
                  <a:lnTo>
                    <a:pt x="0" y="78643"/>
                  </a:lnTo>
                  <a:cubicBezTo>
                    <a:pt x="0" y="35210"/>
                    <a:pt x="35210" y="0"/>
                    <a:pt x="78643" y="0"/>
                  </a:cubicBezTo>
                  <a:close/>
                </a:path>
              </a:pathLst>
            </a:custGeom>
            <a:ln w="38100" cap="rnd">
              <a:solidFill>
                <a:srgbClr val="051D4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01378" cy="650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97374" y="4415228"/>
            <a:ext cx="2043619" cy="668957"/>
            <a:chOff x="0" y="0"/>
            <a:chExt cx="2724826" cy="8919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24826" cy="891943"/>
            </a:xfrm>
            <a:custGeom>
              <a:avLst/>
              <a:gdLst/>
              <a:ahLst/>
              <a:cxnLst/>
              <a:rect r="r" b="b" t="t" l="l"/>
              <a:pathLst>
                <a:path h="891943" w="2724826">
                  <a:moveTo>
                    <a:pt x="0" y="0"/>
                  </a:moveTo>
                  <a:lnTo>
                    <a:pt x="2724826" y="0"/>
                  </a:lnTo>
                  <a:lnTo>
                    <a:pt x="2724826" y="891943"/>
                  </a:lnTo>
                  <a:lnTo>
                    <a:pt x="0" y="891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-4433" r="0" b="-443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226896"/>
              <a:ext cx="2724826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  <a:spcBef>
                  <a:spcPct val="0"/>
                </a:spcBef>
              </a:pPr>
              <a:r>
                <a:rPr lang="en-US" sz="2300" spc="-57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Year 1-2: Enter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2700000">
            <a:off x="2843611" y="5308006"/>
            <a:ext cx="351145" cy="374830"/>
          </a:xfrm>
          <a:custGeom>
            <a:avLst/>
            <a:gdLst/>
            <a:ahLst/>
            <a:cxnLst/>
            <a:rect r="r" b="b" t="t" l="l"/>
            <a:pathLst>
              <a:path h="374830" w="351145">
                <a:moveTo>
                  <a:pt x="0" y="0"/>
                </a:moveTo>
                <a:lnTo>
                  <a:pt x="351145" y="0"/>
                </a:lnTo>
                <a:lnTo>
                  <a:pt x="351145" y="374830"/>
                </a:lnTo>
                <a:lnTo>
                  <a:pt x="0" y="3748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9202" t="0" r="0" b="-25459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040993" y="1414853"/>
            <a:ext cx="10206014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4"/>
              </a:lnSpc>
            </a:pPr>
            <a:r>
              <a:rPr lang="en-US" sz="6570" spc="-16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Implementation Roadmap</a:t>
            </a:r>
          </a:p>
          <a:p>
            <a:pPr algn="l">
              <a:lnSpc>
                <a:spcPts val="7884"/>
              </a:lnSpc>
            </a:pPr>
          </a:p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660128" y="6098757"/>
            <a:ext cx="2969527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720" indent="-204860" lvl="1">
              <a:lnSpc>
                <a:spcPts val="2277"/>
              </a:lnSpc>
              <a:buFont typeface="Arial"/>
              <a:buChar char="•"/>
            </a:pPr>
            <a:r>
              <a:rPr lang="en-US" sz="1897" spc="-4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Acquire IP &amp; secure outsourcing partner</a:t>
            </a:r>
          </a:p>
          <a:p>
            <a:pPr algn="l" marL="409720" indent="-204860" lvl="1">
              <a:lnSpc>
                <a:spcPts val="2277"/>
              </a:lnSpc>
              <a:buFont typeface="Arial"/>
              <a:buChar char="•"/>
            </a:pPr>
            <a:r>
              <a:rPr lang="en-US" sz="1897" spc="-4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Launch marketing + surgeon training</a:t>
            </a:r>
          </a:p>
          <a:p>
            <a:pPr algn="l" marL="409720" indent="-204860" lvl="1">
              <a:lnSpc>
                <a:spcPts val="2277"/>
              </a:lnSpc>
              <a:buFont typeface="Arial"/>
              <a:buChar char="•"/>
            </a:pPr>
            <a:r>
              <a:rPr lang="en-US" sz="1897" spc="-4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Enter barbed suture market (first revenue)</a:t>
            </a:r>
          </a:p>
          <a:p>
            <a:pPr algn="l">
              <a:lnSpc>
                <a:spcPts val="2277"/>
              </a:lnSpc>
              <a:spcBef>
                <a:spcPct val="0"/>
              </a:spcBef>
            </a:pPr>
          </a:p>
        </p:txBody>
      </p:sp>
      <p:sp>
        <p:nvSpPr>
          <p:cNvPr name="Freeform 24" id="24"/>
          <p:cNvSpPr/>
          <p:nvPr/>
        </p:nvSpPr>
        <p:spPr>
          <a:xfrm flipH="false" flipV="false" rot="-2700000">
            <a:off x="6907704" y="5821348"/>
            <a:ext cx="351145" cy="374830"/>
          </a:xfrm>
          <a:custGeom>
            <a:avLst/>
            <a:gdLst/>
            <a:ahLst/>
            <a:cxnLst/>
            <a:rect r="r" b="b" t="t" l="l"/>
            <a:pathLst>
              <a:path h="374830" w="351145">
                <a:moveTo>
                  <a:pt x="0" y="0"/>
                </a:moveTo>
                <a:lnTo>
                  <a:pt x="351144" y="0"/>
                </a:lnTo>
                <a:lnTo>
                  <a:pt x="351144" y="374830"/>
                </a:lnTo>
                <a:lnTo>
                  <a:pt x="0" y="3748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9202" t="0" r="0" b="-254594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2700000">
            <a:off x="10726575" y="5308006"/>
            <a:ext cx="351145" cy="374830"/>
          </a:xfrm>
          <a:custGeom>
            <a:avLst/>
            <a:gdLst/>
            <a:ahLst/>
            <a:cxnLst/>
            <a:rect r="r" b="b" t="t" l="l"/>
            <a:pathLst>
              <a:path h="374830" w="351145">
                <a:moveTo>
                  <a:pt x="0" y="0"/>
                </a:moveTo>
                <a:lnTo>
                  <a:pt x="351145" y="0"/>
                </a:lnTo>
                <a:lnTo>
                  <a:pt x="351145" y="374830"/>
                </a:lnTo>
                <a:lnTo>
                  <a:pt x="0" y="3748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9202" t="0" r="0" b="-254594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2700000">
            <a:off x="15168045" y="5821348"/>
            <a:ext cx="351145" cy="374830"/>
          </a:xfrm>
          <a:custGeom>
            <a:avLst/>
            <a:gdLst/>
            <a:ahLst/>
            <a:cxnLst/>
            <a:rect r="r" b="b" t="t" l="l"/>
            <a:pathLst>
              <a:path h="374830" w="351145">
                <a:moveTo>
                  <a:pt x="0" y="0"/>
                </a:moveTo>
                <a:lnTo>
                  <a:pt x="351145" y="0"/>
                </a:lnTo>
                <a:lnTo>
                  <a:pt x="351145" y="374830"/>
                </a:lnTo>
                <a:lnTo>
                  <a:pt x="0" y="3748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9202" t="0" r="0" b="-254594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061466" y="6370610"/>
            <a:ext cx="2043619" cy="668957"/>
            <a:chOff x="0" y="0"/>
            <a:chExt cx="2724826" cy="8919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24826" cy="891943"/>
            </a:xfrm>
            <a:custGeom>
              <a:avLst/>
              <a:gdLst/>
              <a:ahLst/>
              <a:cxnLst/>
              <a:rect r="r" b="b" t="t" l="l"/>
              <a:pathLst>
                <a:path h="891943" w="2724826">
                  <a:moveTo>
                    <a:pt x="0" y="0"/>
                  </a:moveTo>
                  <a:lnTo>
                    <a:pt x="2724826" y="0"/>
                  </a:lnTo>
                  <a:lnTo>
                    <a:pt x="2724826" y="891943"/>
                  </a:lnTo>
                  <a:lnTo>
                    <a:pt x="0" y="891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4433" r="0" b="-443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0" y="226896"/>
              <a:ext cx="2724826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  <a:spcBef>
                  <a:spcPct val="0"/>
                </a:spcBef>
              </a:pPr>
              <a:r>
                <a:rPr lang="en-US" sz="2300" spc="-57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Year 2-3: Build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641481" y="3357734"/>
            <a:ext cx="3124911" cy="178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105" indent="-183052" lvl="1">
              <a:lnSpc>
                <a:spcPts val="2034"/>
              </a:lnSpc>
              <a:buFont typeface="Arial"/>
              <a:buChar char="•"/>
            </a:pPr>
            <a:r>
              <a:rPr lang="en-US" sz="1695" spc="-4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Expand symmetrical suture adoption and surg</a:t>
            </a:r>
            <a:r>
              <a:rPr lang="en-US" sz="1695" spc="-4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</a:t>
            </a:r>
            <a:r>
              <a:rPr lang="en-US" sz="1695" spc="-4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on training</a:t>
            </a:r>
          </a:p>
          <a:p>
            <a:pPr algn="l" marL="366105" indent="-183052" lvl="1">
              <a:lnSpc>
                <a:spcPts val="2034"/>
              </a:lnSpc>
              <a:buFont typeface="Arial"/>
              <a:buChar char="•"/>
            </a:pPr>
            <a:r>
              <a:rPr lang="en-US" sz="1695" spc="-4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Continue </a:t>
            </a:r>
            <a:r>
              <a:rPr lang="en-US" sz="1695" spc="-4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plant</a:t>
            </a:r>
            <a:r>
              <a:rPr lang="en-US" sz="1695" spc="-4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build-out and supply chain setup</a:t>
            </a:r>
          </a:p>
          <a:p>
            <a:pPr algn="l" marL="366105" indent="-183052" lvl="1">
              <a:lnSpc>
                <a:spcPts val="2034"/>
              </a:lnSpc>
              <a:buFont typeface="Arial"/>
              <a:buChar char="•"/>
            </a:pPr>
            <a:r>
              <a:rPr lang="en-US" sz="1695" spc="-42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Strengthen sales force and hospital penetration</a:t>
            </a:r>
          </a:p>
          <a:p>
            <a:pPr algn="l">
              <a:lnSpc>
                <a:spcPts val="2034"/>
              </a:lnSpc>
              <a:spcBef>
                <a:spcPct val="0"/>
              </a:spcBef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880338" y="4380372"/>
            <a:ext cx="2043619" cy="668957"/>
          </a:xfrm>
          <a:custGeom>
            <a:avLst/>
            <a:gdLst/>
            <a:ahLst/>
            <a:cxnLst/>
            <a:rect r="r" b="b" t="t" l="l"/>
            <a:pathLst>
              <a:path h="668957" w="2043619">
                <a:moveTo>
                  <a:pt x="0" y="0"/>
                </a:moveTo>
                <a:lnTo>
                  <a:pt x="2043619" y="0"/>
                </a:lnTo>
                <a:lnTo>
                  <a:pt x="2043619" y="668957"/>
                </a:lnTo>
                <a:lnTo>
                  <a:pt x="0" y="6689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433" r="0" b="-4433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9943192" y="4548163"/>
            <a:ext cx="191791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5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Year 4-5: Develop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21182" y="6191090"/>
            <a:ext cx="2961931" cy="182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796" indent="-187898" lvl="1">
              <a:lnSpc>
                <a:spcPts val="2088"/>
              </a:lnSpc>
              <a:buFont typeface="Arial"/>
              <a:buChar char="•"/>
            </a:pPr>
            <a:r>
              <a:rPr lang="en-US" sz="1740" spc="-4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Deepen market share with symmetrical product</a:t>
            </a:r>
          </a:p>
          <a:p>
            <a:pPr algn="l" marL="375796" indent="-187898" lvl="1">
              <a:lnSpc>
                <a:spcPts val="2088"/>
              </a:lnSpc>
              <a:buFont typeface="Arial"/>
              <a:buChar char="•"/>
            </a:pPr>
            <a:r>
              <a:rPr lang="en-US" sz="1740" spc="-4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Fin</a:t>
            </a:r>
            <a:r>
              <a:rPr lang="en-US" sz="1740" spc="-4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alize spiral suture development (internal R&amp;D)</a:t>
            </a:r>
          </a:p>
          <a:p>
            <a:pPr algn="l" marL="375796" indent="-187898" lvl="1">
              <a:lnSpc>
                <a:spcPts val="2088"/>
              </a:lnSpc>
              <a:buFont typeface="Arial"/>
              <a:buChar char="•"/>
            </a:pPr>
            <a:r>
              <a:rPr lang="en-US" sz="1740" spc="-4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Complete plant readiness and validation</a:t>
            </a:r>
          </a:p>
          <a:p>
            <a:pPr algn="l">
              <a:lnSpc>
                <a:spcPts val="2088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4321808" y="6370610"/>
            <a:ext cx="2043619" cy="668957"/>
            <a:chOff x="0" y="0"/>
            <a:chExt cx="2724826" cy="8919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24826" cy="891943"/>
            </a:xfrm>
            <a:custGeom>
              <a:avLst/>
              <a:gdLst/>
              <a:ahLst/>
              <a:cxnLst/>
              <a:rect r="r" b="b" t="t" l="l"/>
              <a:pathLst>
                <a:path h="891943" w="2724826">
                  <a:moveTo>
                    <a:pt x="0" y="0"/>
                  </a:moveTo>
                  <a:lnTo>
                    <a:pt x="2724826" y="0"/>
                  </a:lnTo>
                  <a:lnTo>
                    <a:pt x="2724826" y="891943"/>
                  </a:lnTo>
                  <a:lnTo>
                    <a:pt x="0" y="891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4433" r="0" b="-443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0" y="226896"/>
              <a:ext cx="2724826" cy="44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0"/>
                </a:lnSpc>
                <a:spcBef>
                  <a:spcPct val="0"/>
                </a:spcBef>
              </a:pPr>
              <a:r>
                <a:rPr lang="en-US" sz="2300" spc="-57">
                  <a:solidFill>
                    <a:srgbClr val="051D40"/>
                  </a:solidFill>
                  <a:latin typeface="Didact Gothic"/>
                  <a:ea typeface="Didact Gothic"/>
                  <a:cs typeface="Didact Gothic"/>
                  <a:sym typeface="Didact Gothic"/>
                </a:rPr>
                <a:t>Year 6+: Lead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044525" y="3493452"/>
            <a:ext cx="2994892" cy="174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9448" indent="-179724" lvl="1">
              <a:lnSpc>
                <a:spcPts val="1997"/>
              </a:lnSpc>
              <a:buFont typeface="Arial"/>
              <a:buChar char="•"/>
            </a:pPr>
            <a:r>
              <a:rPr lang="en-US" sz="1664" spc="-4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Open and scale new plant (full production ramp)</a:t>
            </a:r>
          </a:p>
          <a:p>
            <a:pPr algn="l" marL="359448" indent="-179724" lvl="1">
              <a:lnSpc>
                <a:spcPts val="1997"/>
              </a:lnSpc>
              <a:buFont typeface="Arial"/>
              <a:buChar char="•"/>
            </a:pPr>
            <a:r>
              <a:rPr lang="en-US" sz="1664" spc="-4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Launch spiral suture and expand dual-product portfolio</a:t>
            </a:r>
          </a:p>
          <a:p>
            <a:pPr algn="l" marL="359448" indent="-179724" lvl="1">
              <a:lnSpc>
                <a:spcPts val="1997"/>
              </a:lnSpc>
              <a:buFont typeface="Arial"/>
              <a:buChar char="•"/>
            </a:pPr>
            <a:r>
              <a:rPr lang="en-US" sz="1664" spc="-4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Accelerate global growth and maximize profitability</a:t>
            </a:r>
          </a:p>
          <a:p>
            <a:pPr algn="l">
              <a:lnSpc>
                <a:spcPts val="19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40583" y="-334859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746599" y="1980298"/>
          <a:ext cx="14794802" cy="7461429"/>
        </p:xfrm>
        <a:graphic>
          <a:graphicData uri="http://schemas.openxmlformats.org/drawingml/2006/table">
            <a:tbl>
              <a:tblPr/>
              <a:tblGrid>
                <a:gridCol w="3682270"/>
                <a:gridCol w="3662618"/>
                <a:gridCol w="3723830"/>
                <a:gridCol w="3726085"/>
              </a:tblGrid>
              <a:tr h="1744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NPV Effect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Scenario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Change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Key 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4EB"/>
                    </a:solidFill>
                  </a:tcPr>
                </a:tc>
              </a:tr>
              <a:tr h="18492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↓ NPV (volume doesn't offset)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Pricing Sensitivity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High → Medium/Low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↑ Adoption Initially</a:t>
                      </a: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↓ Margins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41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Weakens long-term position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Marketing Sensitivity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Gold → Medium/Low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↓ Surgeon adoption</a:t>
                      </a: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↓ Market share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8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~Same </a:t>
                      </a: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NPV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Supply Chain Sensitivity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New Plant </a:t>
                      </a: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→ Outsource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~Same share</a:t>
                      </a:r>
                      <a:endParaRPr lang="en-US" sz="1100"/>
                    </a:p>
                    <a:p>
                      <a:pPr algn="ctr">
                        <a:lnSpc>
                          <a:spcPts val="3220"/>
                        </a:lnSpc>
                      </a:pPr>
                      <a:r>
                        <a:rPr lang="en-US" sz="2300">
                          <a:solidFill>
                            <a:srgbClr val="051D40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↓ CapEx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210861" y="772430"/>
            <a:ext cx="13684827" cy="95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48"/>
              </a:lnSpc>
              <a:spcBef>
                <a:spcPct val="0"/>
              </a:spcBef>
            </a:pP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Sensitivity Analysis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4488114" y="-3347152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6716639" y="7507738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5400000">
            <a:off x="4654912" y="766885"/>
            <a:ext cx="956286" cy="95628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3249904" y="607704"/>
            <a:ext cx="841991" cy="84199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4725380" y="-4496251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821130" y="7768190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91895" y="528638"/>
            <a:ext cx="1054123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 spc="-16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Key Assumptions &amp; </a:t>
            </a:r>
            <a:r>
              <a:rPr lang="en-US" sz="6570" spc="-164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Tradeoffs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98047" y="2115393"/>
            <a:ext cx="6743469" cy="7669926"/>
            <a:chOff x="0" y="0"/>
            <a:chExt cx="1929538" cy="21946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9538" cy="2194629"/>
            </a:xfrm>
            <a:custGeom>
              <a:avLst/>
              <a:gdLst/>
              <a:ahLst/>
              <a:cxnLst/>
              <a:rect r="r" b="b" t="t" l="l"/>
              <a:pathLst>
                <a:path h="2194629" w="1929538">
                  <a:moveTo>
                    <a:pt x="36738" y="0"/>
                  </a:moveTo>
                  <a:lnTo>
                    <a:pt x="1892800" y="0"/>
                  </a:lnTo>
                  <a:cubicBezTo>
                    <a:pt x="1902543" y="0"/>
                    <a:pt x="1911888" y="3871"/>
                    <a:pt x="1918777" y="10760"/>
                  </a:cubicBezTo>
                  <a:cubicBezTo>
                    <a:pt x="1925667" y="17650"/>
                    <a:pt x="1929538" y="26994"/>
                    <a:pt x="1929538" y="36738"/>
                  </a:cubicBezTo>
                  <a:lnTo>
                    <a:pt x="1929538" y="2157891"/>
                  </a:lnTo>
                  <a:cubicBezTo>
                    <a:pt x="1929538" y="2178181"/>
                    <a:pt x="1913090" y="2194629"/>
                    <a:pt x="1892800" y="2194629"/>
                  </a:cubicBezTo>
                  <a:lnTo>
                    <a:pt x="36738" y="2194629"/>
                  </a:lnTo>
                  <a:cubicBezTo>
                    <a:pt x="26994" y="2194629"/>
                    <a:pt x="17650" y="2190758"/>
                    <a:pt x="10760" y="2183868"/>
                  </a:cubicBezTo>
                  <a:cubicBezTo>
                    <a:pt x="3871" y="2176979"/>
                    <a:pt x="0" y="2167634"/>
                    <a:pt x="0" y="2157891"/>
                  </a:cubicBezTo>
                  <a:lnTo>
                    <a:pt x="0" y="36738"/>
                  </a:lnTo>
                  <a:cubicBezTo>
                    <a:pt x="0" y="16448"/>
                    <a:pt x="16448" y="0"/>
                    <a:pt x="36738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29538" cy="223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46484" y="2115393"/>
            <a:ext cx="6743469" cy="7669926"/>
            <a:chOff x="0" y="0"/>
            <a:chExt cx="1929538" cy="21946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9538" cy="2194629"/>
            </a:xfrm>
            <a:custGeom>
              <a:avLst/>
              <a:gdLst/>
              <a:ahLst/>
              <a:cxnLst/>
              <a:rect r="r" b="b" t="t" l="l"/>
              <a:pathLst>
                <a:path h="2194629" w="1929538">
                  <a:moveTo>
                    <a:pt x="36738" y="0"/>
                  </a:moveTo>
                  <a:lnTo>
                    <a:pt x="1892800" y="0"/>
                  </a:lnTo>
                  <a:cubicBezTo>
                    <a:pt x="1902543" y="0"/>
                    <a:pt x="1911888" y="3871"/>
                    <a:pt x="1918777" y="10760"/>
                  </a:cubicBezTo>
                  <a:cubicBezTo>
                    <a:pt x="1925667" y="17650"/>
                    <a:pt x="1929538" y="26994"/>
                    <a:pt x="1929538" y="36738"/>
                  </a:cubicBezTo>
                  <a:lnTo>
                    <a:pt x="1929538" y="2157891"/>
                  </a:lnTo>
                  <a:cubicBezTo>
                    <a:pt x="1929538" y="2178181"/>
                    <a:pt x="1913090" y="2194629"/>
                    <a:pt x="1892800" y="2194629"/>
                  </a:cubicBezTo>
                  <a:lnTo>
                    <a:pt x="36738" y="2194629"/>
                  </a:lnTo>
                  <a:cubicBezTo>
                    <a:pt x="26994" y="2194629"/>
                    <a:pt x="17650" y="2190758"/>
                    <a:pt x="10760" y="2183868"/>
                  </a:cubicBezTo>
                  <a:cubicBezTo>
                    <a:pt x="3871" y="2176979"/>
                    <a:pt x="0" y="2167634"/>
                    <a:pt x="0" y="2157891"/>
                  </a:cubicBezTo>
                  <a:lnTo>
                    <a:pt x="0" y="36738"/>
                  </a:lnTo>
                  <a:cubicBezTo>
                    <a:pt x="0" y="16448"/>
                    <a:pt x="16448" y="0"/>
                    <a:pt x="36738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9538" cy="2232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433152" y="3685763"/>
            <a:ext cx="6273259" cy="4491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136" indent="-234568" lvl="1">
              <a:lnSpc>
                <a:spcPts val="2998"/>
              </a:lnSpc>
              <a:buFont typeface="Arial"/>
              <a:buChar char="•"/>
            </a:pPr>
            <a:r>
              <a:rPr lang="en-US" sz="2172" spc="86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Premium Pricing:</a:t>
            </a:r>
            <a:r>
              <a:rPr lang="en-US" sz="2172" spc="8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Clinical value outweighs price sensitivity</a:t>
            </a:r>
          </a:p>
          <a:p>
            <a:pPr algn="l">
              <a:lnSpc>
                <a:spcPts val="2998"/>
              </a:lnSpc>
              <a:spcBef>
                <a:spcPct val="0"/>
              </a:spcBef>
            </a:pPr>
          </a:p>
          <a:p>
            <a:pPr algn="l" marL="469136" indent="-234568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Gold Marketing:</a:t>
            </a:r>
            <a:r>
              <a:rPr lang="en-US" sz="2172" spc="8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Training drives surgeon adoption</a:t>
            </a:r>
          </a:p>
          <a:p>
            <a:pPr algn="l">
              <a:lnSpc>
                <a:spcPts val="2998"/>
              </a:lnSpc>
              <a:spcBef>
                <a:spcPct val="0"/>
              </a:spcBef>
            </a:pPr>
          </a:p>
          <a:p>
            <a:pPr algn="l" marL="469136" indent="-234568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New Manufacturing Plant:</a:t>
            </a:r>
            <a:r>
              <a:rPr lang="en-US" sz="2172" spc="8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More control but high CapEx + delayed returns</a:t>
            </a:r>
          </a:p>
          <a:p>
            <a:pPr algn="l">
              <a:lnSpc>
                <a:spcPts val="2998"/>
              </a:lnSpc>
              <a:spcBef>
                <a:spcPct val="0"/>
              </a:spcBef>
            </a:pPr>
          </a:p>
          <a:p>
            <a:pPr algn="l" marL="469136" indent="-234568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IP +</a:t>
            </a: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 Internal R&amp;D:</a:t>
            </a:r>
            <a:r>
              <a:rPr lang="en-US" sz="2172" spc="8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Immediate entry + long-term differentiation</a:t>
            </a:r>
          </a:p>
          <a:p>
            <a:pPr algn="l" marL="0" indent="0" lvl="0">
              <a:lnSpc>
                <a:spcPts val="332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581589" y="3685763"/>
            <a:ext cx="6273259" cy="486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136" indent="-234568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172" spc="86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Lower Pricing: </a:t>
            </a:r>
            <a:r>
              <a:rPr lang="en-US" sz="2172" spc="8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Higher adoption but lower margins &amp; NPV</a:t>
            </a:r>
          </a:p>
          <a:p>
            <a:pPr algn="l">
              <a:lnSpc>
                <a:spcPts val="2998"/>
              </a:lnSpc>
              <a:spcBef>
                <a:spcPct val="0"/>
              </a:spcBef>
            </a:pPr>
          </a:p>
          <a:p>
            <a:pPr algn="l" marL="469136" indent="-234568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Reduced Marketing: </a:t>
            </a:r>
            <a:r>
              <a:rPr lang="en-US" sz="2172" spc="8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Lower cost but slower adoption &amp; weaker share</a:t>
            </a:r>
          </a:p>
          <a:p>
            <a:pPr algn="l">
              <a:lnSpc>
                <a:spcPts val="2998"/>
              </a:lnSpc>
              <a:spcBef>
                <a:spcPct val="0"/>
              </a:spcBef>
            </a:pPr>
          </a:p>
          <a:p>
            <a:pPr algn="l" marL="469136" indent="-234568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O</a:t>
            </a: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utsourcing: </a:t>
            </a:r>
            <a:r>
              <a:rPr lang="en-US" sz="2172" spc="8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Speed + capital efficiency &gt; control</a:t>
            </a:r>
          </a:p>
          <a:p>
            <a:pPr algn="l">
              <a:lnSpc>
                <a:spcPts val="2998"/>
              </a:lnSpc>
              <a:spcBef>
                <a:spcPct val="0"/>
              </a:spcBef>
            </a:pPr>
          </a:p>
          <a:p>
            <a:pPr algn="l" marL="469136" indent="-234568" lvl="1">
              <a:lnSpc>
                <a:spcPts val="2998"/>
              </a:lnSpc>
              <a:spcBef>
                <a:spcPct val="0"/>
              </a:spcBef>
              <a:buFont typeface="Arial"/>
              <a:buChar char="•"/>
            </a:pPr>
            <a:r>
              <a:rPr lang="en-US" sz="2172" spc="86" strike="noStrike" u="none">
                <a:solidFill>
                  <a:srgbClr val="FA6559"/>
                </a:solidFill>
                <a:latin typeface="Didact Gothic"/>
                <a:ea typeface="Didact Gothic"/>
                <a:cs typeface="Didact Gothic"/>
                <a:sym typeface="Didact Gothic"/>
              </a:rPr>
              <a:t>Full Internal Development: </a:t>
            </a:r>
            <a:r>
              <a:rPr lang="en-US" sz="2172" spc="86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Strong differentiation but delayed entry &amp; lost early share</a:t>
            </a:r>
          </a:p>
          <a:p>
            <a:pPr algn="l" marL="0" indent="0" lvl="0">
              <a:lnSpc>
                <a:spcPts val="332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48801" y="2481137"/>
            <a:ext cx="5584237" cy="64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7"/>
              </a:lnSpc>
              <a:spcBef>
                <a:spcPct val="0"/>
              </a:spcBef>
            </a:pPr>
            <a:r>
              <a:rPr lang="en-US" sz="3845" spc="3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</a:t>
            </a:r>
            <a:r>
              <a:rPr lang="en-US" sz="3845" spc="3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ategy Assumptions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6100" y="2481137"/>
            <a:ext cx="5584237" cy="64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7"/>
              </a:lnSpc>
              <a:spcBef>
                <a:spcPct val="0"/>
              </a:spcBef>
            </a:pPr>
            <a:r>
              <a:rPr lang="en-US" sz="3845" spc="3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Tr</a:t>
            </a:r>
            <a:r>
              <a:rPr lang="en-US" sz="3845" spc="3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adeoffs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400422"/>
            <a:ext cx="1505735" cy="1505735"/>
            <a:chOff x="0" y="0"/>
            <a:chExt cx="2007646" cy="200764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007646" cy="200764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BE4EB"/>
              </a:solidFill>
              <a:ln w="95250" cap="sq">
                <a:solidFill>
                  <a:srgbClr val="FA6559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427123" y="422359"/>
              <a:ext cx="1047571" cy="1047571"/>
            </a:xfrm>
            <a:custGeom>
              <a:avLst/>
              <a:gdLst/>
              <a:ahLst/>
              <a:cxnLst/>
              <a:rect r="r" b="b" t="t" l="l"/>
              <a:pathLst>
                <a:path h="1047571" w="1047571">
                  <a:moveTo>
                    <a:pt x="0" y="0"/>
                  </a:moveTo>
                  <a:lnTo>
                    <a:pt x="1047571" y="0"/>
                  </a:lnTo>
                  <a:lnTo>
                    <a:pt x="1047571" y="1047571"/>
                  </a:lnTo>
                  <a:lnTo>
                    <a:pt x="0" y="1047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1028700" y="561949"/>
            <a:ext cx="1224824" cy="122482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03357" y="5400422"/>
            <a:ext cx="1505735" cy="15057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E4EB"/>
            </a:solidFill>
            <a:ln w="95250" cap="sq">
              <a:solidFill>
                <a:srgbClr val="FA6559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414463" y="5704179"/>
            <a:ext cx="883523" cy="898221"/>
          </a:xfrm>
          <a:custGeom>
            <a:avLst/>
            <a:gdLst/>
            <a:ahLst/>
            <a:cxnLst/>
            <a:rect r="r" b="b" t="t" l="l"/>
            <a:pathLst>
              <a:path h="898221" w="883523">
                <a:moveTo>
                  <a:pt x="0" y="0"/>
                </a:moveTo>
                <a:lnTo>
                  <a:pt x="883523" y="0"/>
                </a:lnTo>
                <a:lnTo>
                  <a:pt x="883523" y="898221"/>
                </a:lnTo>
                <a:lnTo>
                  <a:pt x="0" y="8982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05823" y="2758444"/>
            <a:ext cx="10596820" cy="244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192" indent="-253096" lvl="1">
              <a:lnSpc>
                <a:spcPts val="3235"/>
              </a:lnSpc>
              <a:buFont typeface="Arial"/>
              <a:buChar char="•"/>
            </a:pPr>
            <a:r>
              <a:rPr lang="en-US" sz="2344" spc="9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Strong performance driven by:</a:t>
            </a:r>
          </a:p>
          <a:p>
            <a:pPr algn="l" marL="1012384" indent="-337461" lvl="2">
              <a:lnSpc>
                <a:spcPts val="3235"/>
              </a:lnSpc>
              <a:buFont typeface="Arial"/>
              <a:buChar char="⚬"/>
            </a:pPr>
            <a:r>
              <a:rPr lang="en-US" sz="2344" spc="9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Early market entry</a:t>
            </a:r>
          </a:p>
          <a:p>
            <a:pPr algn="l" marL="1012384" indent="-337461" lvl="2">
              <a:lnSpc>
                <a:spcPts val="3235"/>
              </a:lnSpc>
              <a:buFont typeface="Arial"/>
              <a:buChar char="⚬"/>
            </a:pPr>
            <a:r>
              <a:rPr lang="en-US" sz="2344" spc="9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Premium pricing</a:t>
            </a:r>
          </a:p>
          <a:p>
            <a:pPr algn="l" marL="1012384" indent="-337461" lvl="2">
              <a:lnSpc>
                <a:spcPts val="3235"/>
              </a:lnSpc>
              <a:buFont typeface="Arial"/>
              <a:buChar char="⚬"/>
            </a:pPr>
            <a:r>
              <a:rPr lang="en-US" sz="2344" spc="9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Production</a:t>
            </a:r>
            <a:r>
              <a:rPr lang="en-US" sz="2344" spc="9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-efficient sourcing</a:t>
            </a:r>
          </a:p>
          <a:p>
            <a:pPr algn="l" marL="506192" indent="-253096" lvl="1">
              <a:lnSpc>
                <a:spcPts val="3235"/>
              </a:lnSpc>
              <a:buFont typeface="Arial"/>
              <a:buChar char="•"/>
            </a:pPr>
            <a:r>
              <a:rPr lang="en-US" sz="2344" spc="93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Result: High market share growth + superior returns</a:t>
            </a:r>
          </a:p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719721" y="5507784"/>
            <a:ext cx="5584237" cy="64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7"/>
              </a:lnSpc>
              <a:spcBef>
                <a:spcPct val="0"/>
              </a:spcBef>
            </a:pPr>
            <a:r>
              <a:rPr lang="en-US" sz="3845" spc="3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Financial Metrics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615720" y="6375626"/>
            <a:ext cx="5350076" cy="3083352"/>
            <a:chOff x="0" y="0"/>
            <a:chExt cx="1530840" cy="8822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0840" cy="882253"/>
            </a:xfrm>
            <a:custGeom>
              <a:avLst/>
              <a:gdLst/>
              <a:ahLst/>
              <a:cxnLst/>
              <a:rect r="r" b="b" t="t" l="l"/>
              <a:pathLst>
                <a:path h="882253" w="1530840">
                  <a:moveTo>
                    <a:pt x="46306" y="0"/>
                  </a:moveTo>
                  <a:lnTo>
                    <a:pt x="1484534" y="0"/>
                  </a:lnTo>
                  <a:cubicBezTo>
                    <a:pt x="1510108" y="0"/>
                    <a:pt x="1530840" y="20732"/>
                    <a:pt x="1530840" y="46306"/>
                  </a:cubicBezTo>
                  <a:lnTo>
                    <a:pt x="1530840" y="835947"/>
                  </a:lnTo>
                  <a:cubicBezTo>
                    <a:pt x="1530840" y="861521"/>
                    <a:pt x="1510108" y="882253"/>
                    <a:pt x="1484534" y="882253"/>
                  </a:cubicBezTo>
                  <a:lnTo>
                    <a:pt x="46306" y="882253"/>
                  </a:lnTo>
                  <a:cubicBezTo>
                    <a:pt x="20732" y="882253"/>
                    <a:pt x="0" y="861521"/>
                    <a:pt x="0" y="835947"/>
                  </a:cubicBezTo>
                  <a:lnTo>
                    <a:pt x="0" y="46306"/>
                  </a:lnTo>
                  <a:cubicBezTo>
                    <a:pt x="0" y="20732"/>
                    <a:pt x="20732" y="0"/>
                    <a:pt x="46306" y="0"/>
                  </a:cubicBezTo>
                  <a:close/>
                </a:path>
              </a:pathLst>
            </a:custGeom>
            <a:ln w="38100" cap="rnd">
              <a:solidFill>
                <a:srgbClr val="051D4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30840" cy="920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685717" y="6564300"/>
            <a:ext cx="5618240" cy="296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</a:t>
            </a: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rket Share: 56.4% → ~90% (peak)</a:t>
            </a:r>
          </a:p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NPV: ~$24–25M (highest among strategies)</a:t>
            </a:r>
          </a:p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Cumulative </a:t>
            </a: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Net Income: ~$39M</a:t>
            </a:r>
          </a:p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Industry Growth: ~7.5%</a:t>
            </a:r>
          </a:p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Outperformance driven by barbed segment entry</a:t>
            </a:r>
          </a:p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493042" y="702873"/>
            <a:ext cx="1387338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8"/>
              </a:lnSpc>
              <a:spcBef>
                <a:spcPct val="0"/>
              </a:spcBef>
            </a:pP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Financial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4379" y="5507784"/>
            <a:ext cx="5584237" cy="645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7"/>
              </a:lnSpc>
              <a:spcBef>
                <a:spcPct val="0"/>
              </a:spcBef>
            </a:pPr>
            <a:r>
              <a:rPr lang="en-US" sz="3845" spc="3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Value Drivers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78494" y="6375626"/>
            <a:ext cx="5618240" cy="3294244"/>
            <a:chOff x="0" y="0"/>
            <a:chExt cx="1607571" cy="9425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07571" cy="942596"/>
            </a:xfrm>
            <a:custGeom>
              <a:avLst/>
              <a:gdLst/>
              <a:ahLst/>
              <a:cxnLst/>
              <a:rect r="r" b="b" t="t" l="l"/>
              <a:pathLst>
                <a:path h="942596" w="1607571">
                  <a:moveTo>
                    <a:pt x="44096" y="0"/>
                  </a:moveTo>
                  <a:lnTo>
                    <a:pt x="1563475" y="0"/>
                  </a:lnTo>
                  <a:cubicBezTo>
                    <a:pt x="1587829" y="0"/>
                    <a:pt x="1607571" y="19742"/>
                    <a:pt x="1607571" y="44096"/>
                  </a:cubicBezTo>
                  <a:lnTo>
                    <a:pt x="1607571" y="898500"/>
                  </a:lnTo>
                  <a:cubicBezTo>
                    <a:pt x="1607571" y="922854"/>
                    <a:pt x="1587829" y="942596"/>
                    <a:pt x="1563475" y="942596"/>
                  </a:cubicBezTo>
                  <a:lnTo>
                    <a:pt x="44096" y="942596"/>
                  </a:lnTo>
                  <a:cubicBezTo>
                    <a:pt x="19742" y="942596"/>
                    <a:pt x="0" y="922854"/>
                    <a:pt x="0" y="898500"/>
                  </a:cubicBezTo>
                  <a:lnTo>
                    <a:pt x="0" y="44096"/>
                  </a:lnTo>
                  <a:cubicBezTo>
                    <a:pt x="0" y="19742"/>
                    <a:pt x="19742" y="0"/>
                    <a:pt x="44096" y="0"/>
                  </a:cubicBezTo>
                  <a:close/>
                </a:path>
              </a:pathLst>
            </a:custGeom>
            <a:ln w="38100" cap="rnd">
              <a:solidFill>
                <a:srgbClr val="051D4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07571" cy="980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761492" y="6442972"/>
            <a:ext cx="5618240" cy="333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</a:t>
            </a: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remium Pricing → Higher margins per unit</a:t>
            </a:r>
          </a:p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Gold Marketing → Faster adoption &amp; share gain</a:t>
            </a:r>
          </a:p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New Plant</a:t>
            </a: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→ Highest CapEx + long-term cost efficiency</a:t>
            </a:r>
          </a:p>
          <a:p>
            <a:pPr algn="l" marL="463071" indent="-231536" lvl="1">
              <a:lnSpc>
                <a:spcPts val="2959"/>
              </a:lnSpc>
              <a:spcBef>
                <a:spcPct val="0"/>
              </a:spcBef>
              <a:buFont typeface="Arial"/>
              <a:buChar char="•"/>
            </a:pPr>
            <a:r>
              <a:rPr lang="en-US" sz="2144" spc="85" strike="noStrike" u="none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IP + Internal R&amp;D → Immediate revenue + long-term growth</a:t>
            </a:r>
          </a:p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475000" y="2000211"/>
            <a:ext cx="8385763" cy="131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7"/>
              </a:lnSpc>
            </a:pPr>
            <a:r>
              <a:rPr lang="en-US" sz="3845" spc="307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Financial Performance Summary</a:t>
            </a:r>
          </a:p>
          <a:p>
            <a:pPr algn="l">
              <a:lnSpc>
                <a:spcPts val="5307"/>
              </a:lnSpc>
              <a:spcBef>
                <a:spcPct val="0"/>
              </a:spcBef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600289" y="-5573056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4490" y="1852267"/>
            <a:ext cx="6743469" cy="3787499"/>
            <a:chOff x="0" y="0"/>
            <a:chExt cx="1929538" cy="10837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9538" cy="1083733"/>
            </a:xfrm>
            <a:custGeom>
              <a:avLst/>
              <a:gdLst/>
              <a:ahLst/>
              <a:cxnLst/>
              <a:rect r="r" b="b" t="t" l="l"/>
              <a:pathLst>
                <a:path h="1083733" w="1929538">
                  <a:moveTo>
                    <a:pt x="36738" y="0"/>
                  </a:moveTo>
                  <a:lnTo>
                    <a:pt x="1892800" y="0"/>
                  </a:lnTo>
                  <a:cubicBezTo>
                    <a:pt x="1902543" y="0"/>
                    <a:pt x="1911888" y="3871"/>
                    <a:pt x="1918777" y="10760"/>
                  </a:cubicBezTo>
                  <a:cubicBezTo>
                    <a:pt x="1925667" y="17650"/>
                    <a:pt x="1929538" y="26994"/>
                    <a:pt x="1929538" y="36738"/>
                  </a:cubicBezTo>
                  <a:lnTo>
                    <a:pt x="1929538" y="1046995"/>
                  </a:lnTo>
                  <a:cubicBezTo>
                    <a:pt x="1929538" y="1067285"/>
                    <a:pt x="1913090" y="1083733"/>
                    <a:pt x="1892800" y="1083733"/>
                  </a:cubicBezTo>
                  <a:lnTo>
                    <a:pt x="36738" y="1083733"/>
                  </a:lnTo>
                  <a:cubicBezTo>
                    <a:pt x="16448" y="1083733"/>
                    <a:pt x="0" y="1067285"/>
                    <a:pt x="0" y="1046995"/>
                  </a:cubicBezTo>
                  <a:lnTo>
                    <a:pt x="0" y="36738"/>
                  </a:lnTo>
                  <a:cubicBezTo>
                    <a:pt x="0" y="16448"/>
                    <a:pt x="16448" y="0"/>
                    <a:pt x="36738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29538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74490" y="5997820"/>
            <a:ext cx="6743469" cy="3787499"/>
            <a:chOff x="0" y="0"/>
            <a:chExt cx="1929538" cy="1083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9538" cy="1083733"/>
            </a:xfrm>
            <a:custGeom>
              <a:avLst/>
              <a:gdLst/>
              <a:ahLst/>
              <a:cxnLst/>
              <a:rect r="r" b="b" t="t" l="l"/>
              <a:pathLst>
                <a:path h="1083733" w="1929538">
                  <a:moveTo>
                    <a:pt x="36738" y="0"/>
                  </a:moveTo>
                  <a:lnTo>
                    <a:pt x="1892800" y="0"/>
                  </a:lnTo>
                  <a:cubicBezTo>
                    <a:pt x="1902543" y="0"/>
                    <a:pt x="1911888" y="3871"/>
                    <a:pt x="1918777" y="10760"/>
                  </a:cubicBezTo>
                  <a:cubicBezTo>
                    <a:pt x="1925667" y="17650"/>
                    <a:pt x="1929538" y="26994"/>
                    <a:pt x="1929538" y="36738"/>
                  </a:cubicBezTo>
                  <a:lnTo>
                    <a:pt x="1929538" y="1046995"/>
                  </a:lnTo>
                  <a:cubicBezTo>
                    <a:pt x="1929538" y="1067285"/>
                    <a:pt x="1913090" y="1083733"/>
                    <a:pt x="1892800" y="1083733"/>
                  </a:cubicBezTo>
                  <a:lnTo>
                    <a:pt x="36738" y="1083733"/>
                  </a:lnTo>
                  <a:cubicBezTo>
                    <a:pt x="16448" y="1083733"/>
                    <a:pt x="0" y="1067285"/>
                    <a:pt x="0" y="1046995"/>
                  </a:cubicBezTo>
                  <a:lnTo>
                    <a:pt x="0" y="36738"/>
                  </a:lnTo>
                  <a:cubicBezTo>
                    <a:pt x="0" y="16448"/>
                    <a:pt x="16448" y="0"/>
                    <a:pt x="36738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29538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70041" y="1852267"/>
            <a:ext cx="6743469" cy="3787499"/>
            <a:chOff x="0" y="0"/>
            <a:chExt cx="1929538" cy="1083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9538" cy="1083733"/>
            </a:xfrm>
            <a:custGeom>
              <a:avLst/>
              <a:gdLst/>
              <a:ahLst/>
              <a:cxnLst/>
              <a:rect r="r" b="b" t="t" l="l"/>
              <a:pathLst>
                <a:path h="1083733" w="1929538">
                  <a:moveTo>
                    <a:pt x="36738" y="0"/>
                  </a:moveTo>
                  <a:lnTo>
                    <a:pt x="1892800" y="0"/>
                  </a:lnTo>
                  <a:cubicBezTo>
                    <a:pt x="1902543" y="0"/>
                    <a:pt x="1911888" y="3871"/>
                    <a:pt x="1918777" y="10760"/>
                  </a:cubicBezTo>
                  <a:cubicBezTo>
                    <a:pt x="1925667" y="17650"/>
                    <a:pt x="1929538" y="26994"/>
                    <a:pt x="1929538" y="36738"/>
                  </a:cubicBezTo>
                  <a:lnTo>
                    <a:pt x="1929538" y="1046995"/>
                  </a:lnTo>
                  <a:cubicBezTo>
                    <a:pt x="1929538" y="1067285"/>
                    <a:pt x="1913090" y="1083733"/>
                    <a:pt x="1892800" y="1083733"/>
                  </a:cubicBezTo>
                  <a:lnTo>
                    <a:pt x="36738" y="1083733"/>
                  </a:lnTo>
                  <a:cubicBezTo>
                    <a:pt x="16448" y="1083733"/>
                    <a:pt x="0" y="1067285"/>
                    <a:pt x="0" y="1046995"/>
                  </a:cubicBezTo>
                  <a:lnTo>
                    <a:pt x="0" y="36738"/>
                  </a:lnTo>
                  <a:cubicBezTo>
                    <a:pt x="0" y="16448"/>
                    <a:pt x="16448" y="0"/>
                    <a:pt x="36738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29538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0041" y="5997820"/>
            <a:ext cx="6743469" cy="3787499"/>
            <a:chOff x="0" y="0"/>
            <a:chExt cx="1929538" cy="10837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9538" cy="1083733"/>
            </a:xfrm>
            <a:custGeom>
              <a:avLst/>
              <a:gdLst/>
              <a:ahLst/>
              <a:cxnLst/>
              <a:rect r="r" b="b" t="t" l="l"/>
              <a:pathLst>
                <a:path h="1083733" w="1929538">
                  <a:moveTo>
                    <a:pt x="36738" y="0"/>
                  </a:moveTo>
                  <a:lnTo>
                    <a:pt x="1892800" y="0"/>
                  </a:lnTo>
                  <a:cubicBezTo>
                    <a:pt x="1902543" y="0"/>
                    <a:pt x="1911888" y="3871"/>
                    <a:pt x="1918777" y="10760"/>
                  </a:cubicBezTo>
                  <a:cubicBezTo>
                    <a:pt x="1925667" y="17650"/>
                    <a:pt x="1929538" y="26994"/>
                    <a:pt x="1929538" y="36738"/>
                  </a:cubicBezTo>
                  <a:lnTo>
                    <a:pt x="1929538" y="1046995"/>
                  </a:lnTo>
                  <a:cubicBezTo>
                    <a:pt x="1929538" y="1067285"/>
                    <a:pt x="1913090" y="1083733"/>
                    <a:pt x="1892800" y="1083733"/>
                  </a:cubicBezTo>
                  <a:lnTo>
                    <a:pt x="36738" y="1083733"/>
                  </a:lnTo>
                  <a:cubicBezTo>
                    <a:pt x="16448" y="1083733"/>
                    <a:pt x="0" y="1067285"/>
                    <a:pt x="0" y="1046995"/>
                  </a:cubicBezTo>
                  <a:lnTo>
                    <a:pt x="0" y="36738"/>
                  </a:lnTo>
                  <a:cubicBezTo>
                    <a:pt x="0" y="16448"/>
                    <a:pt x="16448" y="0"/>
                    <a:pt x="36738" y="0"/>
                  </a:cubicBezTo>
                  <a:close/>
                </a:path>
              </a:pathLst>
            </a:custGeom>
            <a:solidFill>
              <a:srgbClr val="DBE4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29538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31303" y="2066886"/>
            <a:ext cx="911914" cy="91191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08945" y="2238045"/>
            <a:ext cx="88002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40">
                <a:solidFill>
                  <a:srgbClr val="F1F0F0"/>
                </a:solidFill>
                <a:latin typeface="Didact Gothic"/>
                <a:ea typeface="Didact Gothic"/>
                <a:cs typeface="Didact Gothic"/>
                <a:sym typeface="Didact Gothic"/>
              </a:rPr>
              <a:t>01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248333" y="6176943"/>
            <a:ext cx="911914" cy="91191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31303" y="6348103"/>
            <a:ext cx="88002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40">
                <a:solidFill>
                  <a:srgbClr val="F1F0F0"/>
                </a:solidFill>
                <a:latin typeface="Didact Gothic"/>
                <a:ea typeface="Didact Gothic"/>
                <a:cs typeface="Didact Gothic"/>
                <a:sym typeface="Didact Gothic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54680" y="2066886"/>
            <a:ext cx="911914" cy="91191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70624" y="2238045"/>
            <a:ext cx="88002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40">
                <a:solidFill>
                  <a:srgbClr val="F1F0F0"/>
                </a:solidFill>
                <a:latin typeface="Didact Gothic"/>
                <a:ea typeface="Didact Gothic"/>
                <a:cs typeface="Didact Gothic"/>
                <a:sym typeface="Didact Gothic"/>
              </a:rPr>
              <a:t>02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71710" y="6176943"/>
            <a:ext cx="911914" cy="91191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54680" y="6345648"/>
            <a:ext cx="88002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40">
                <a:solidFill>
                  <a:srgbClr val="F1F0F0"/>
                </a:solidFill>
                <a:latin typeface="Didact Gothic"/>
                <a:ea typeface="Didact Gothic"/>
                <a:cs typeface="Didact Gothic"/>
                <a:sym typeface="Didact Gothic"/>
              </a:rPr>
              <a:t>04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069402" y="-6234210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6794409" y="7088857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493042" y="557213"/>
            <a:ext cx="13873389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8"/>
              </a:lnSpc>
              <a:spcBef>
                <a:spcPct val="0"/>
              </a:spcBef>
            </a:pP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Wh</a:t>
            </a:r>
            <a:r>
              <a:rPr lang="en-US" sz="6373" spc="-159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y this Strategy </a:t>
            </a:r>
            <a:r>
              <a:rPr lang="en-US" sz="6373" spc="-159" strike="noStrike" u="none">
                <a:solidFill>
                  <a:srgbClr val="FA6559"/>
                </a:solidFill>
                <a:latin typeface="Cardo"/>
                <a:ea typeface="Cardo"/>
                <a:cs typeface="Cardo"/>
                <a:sym typeface="Cardo"/>
              </a:rPr>
              <a:t>WINS</a:t>
            </a:r>
          </a:p>
        </p:txBody>
      </p:sp>
      <p:grpSp>
        <p:nvGrpSpPr>
          <p:cNvPr name="Group 33" id="33"/>
          <p:cNvGrpSpPr/>
          <p:nvPr/>
        </p:nvGrpSpPr>
        <p:grpSpPr>
          <a:xfrm rot="5400000">
            <a:off x="1028700" y="416288"/>
            <a:ext cx="1224824" cy="122482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493042" y="3124725"/>
            <a:ext cx="5781067" cy="219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08" indent="-273754" lvl="1">
              <a:lnSpc>
                <a:spcPts val="3499"/>
              </a:lnSpc>
              <a:buFont typeface="Arial"/>
              <a:buChar char="•"/>
            </a:pP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Focus on barbed sutures (shifting demand)</a:t>
            </a:r>
          </a:p>
          <a:p>
            <a:pPr algn="l" marL="547508" indent="-273754" lvl="1">
              <a:lnSpc>
                <a:spcPts val="3499"/>
              </a:lnSpc>
              <a:buFont typeface="Arial"/>
              <a:buChar char="•"/>
            </a:pP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Positions A&amp;A in fastest-growing segment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741729" y="3124725"/>
            <a:ext cx="6200092" cy="219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08" indent="-273754" lvl="1">
              <a:lnSpc>
                <a:spcPts val="3499"/>
              </a:lnSpc>
              <a:buFont typeface="Arial"/>
              <a:buChar char="•"/>
            </a:pP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Immediate entry via IP + outsourcing</a:t>
            </a:r>
          </a:p>
          <a:p>
            <a:pPr algn="l" marL="547508" indent="-273754" lvl="1">
              <a:lnSpc>
                <a:spcPts val="3499"/>
              </a:lnSpc>
              <a:buFont typeface="Arial"/>
              <a:buChar char="•"/>
            </a:pP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Gold marke</a:t>
            </a: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ting → faster surgeon adoption</a:t>
            </a:r>
          </a:p>
          <a:p>
            <a:pPr algn="l" marL="547508" indent="-273754" lvl="1">
              <a:lnSpc>
                <a:spcPts val="3499"/>
              </a:lnSpc>
              <a:buFont typeface="Arial"/>
              <a:buChar char="•"/>
            </a:pP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Builds long-term customer stickiness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9741729" y="7260307"/>
            <a:ext cx="6200092" cy="264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508" indent="-273754" lvl="1">
              <a:lnSpc>
                <a:spcPts val="3499"/>
              </a:lnSpc>
              <a:buFont typeface="Arial"/>
              <a:buChar char="•"/>
            </a:pP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New plant</a:t>
            </a: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→ dedicated facility ensures quality control &amp; IP protection</a:t>
            </a:r>
          </a:p>
          <a:p>
            <a:pPr algn="l" marL="547508" indent="-273754" lvl="1">
              <a:lnSpc>
                <a:spcPts val="3499"/>
              </a:lnSpc>
              <a:buFont typeface="Arial"/>
              <a:buChar char="•"/>
            </a:pP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Full-t</a:t>
            </a:r>
            <a:r>
              <a:rPr lang="en-US" sz="2535" spc="101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ime workforce → lower turnover costs improve cash flow &amp; NPV over time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2555691" y="7206415"/>
            <a:ext cx="5781067" cy="228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211" indent="-284605" lvl="1">
              <a:lnSpc>
                <a:spcPts val="3638"/>
              </a:lnSpc>
              <a:buFont typeface="Arial"/>
              <a:buChar char="•"/>
            </a:pPr>
            <a:r>
              <a:rPr lang="en-US" sz="2636" spc="10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Premium pricing</a:t>
            </a:r>
            <a:r>
              <a:rPr lang="en-US" sz="2636" spc="10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 → stronger margins</a:t>
            </a:r>
          </a:p>
          <a:p>
            <a:pPr algn="l" marL="569211" indent="-284605" lvl="1">
              <a:lnSpc>
                <a:spcPts val="3638"/>
              </a:lnSpc>
              <a:buFont typeface="Arial"/>
              <a:buChar char="•"/>
            </a:pPr>
            <a:r>
              <a:rPr lang="en-US" sz="2636" spc="10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P</a:t>
            </a:r>
            <a:r>
              <a:rPr lang="en-US" sz="2636" spc="105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roduct supports premium positioning</a:t>
            </a:r>
          </a:p>
          <a:p>
            <a:pPr algn="l">
              <a:lnSpc>
                <a:spcPts val="3638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3269948" y="6345648"/>
            <a:ext cx="620009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Maximiz</a:t>
            </a: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e Profitability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3269948" y="2238045"/>
            <a:ext cx="6200092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Cap</a:t>
            </a: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ture High-Growth Segment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90420" y="2231280"/>
            <a:ext cx="620009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D</a:t>
            </a: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rive Early Adoption &amp; Share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0690420" y="6363666"/>
            <a:ext cx="6200092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Capi</a:t>
            </a:r>
            <a:r>
              <a:rPr lang="en-US" sz="3000" spc="120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tal Efficient &amp; Scalable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90195" y="736179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t="0" r="-13317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90195" y="1028700"/>
            <a:ext cx="7569105" cy="7868257"/>
            <a:chOff x="0" y="0"/>
            <a:chExt cx="6108573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t="0" r="-13317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26274" y="5742336"/>
            <a:ext cx="9455477" cy="87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89"/>
              </a:lnSpc>
              <a:spcBef>
                <a:spcPct val="0"/>
              </a:spcBef>
            </a:pPr>
            <a:r>
              <a:rPr lang="en-US" sz="5209" spc="416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Any questions?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6274" y="4274578"/>
            <a:ext cx="6344038" cy="154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79"/>
              </a:lnSpc>
            </a:pPr>
            <a:r>
              <a:rPr lang="en-US" sz="9057" spc="-226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90195" y="-62141"/>
            <a:ext cx="7569105" cy="7868257"/>
            <a:chOff x="0" y="0"/>
            <a:chExt cx="6108573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7893" t="0" r="-2789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90195" y="0"/>
            <a:ext cx="7569105" cy="7868257"/>
            <a:chOff x="0" y="0"/>
            <a:chExt cx="6108573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133175" t="0" r="-13317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4439" y="2703207"/>
            <a:ext cx="6355880" cy="54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8"/>
              </a:lnSpc>
            </a:pPr>
            <a:r>
              <a:rPr lang="en-US" sz="1787" spc="71">
                <a:solidFill>
                  <a:srgbClr val="F13223"/>
                </a:solidFill>
                <a:latin typeface="Didact Gothic"/>
                <a:ea typeface="Didact Gothic"/>
                <a:cs typeface="Didact Gothic"/>
                <a:sym typeface="Didact Gothic"/>
              </a:rPr>
              <a:t>Johnson &amp; Johnson Case Competition</a:t>
            </a:r>
          </a:p>
          <a:p>
            <a:pPr algn="l" marL="0" indent="0" lvl="0">
              <a:lnSpc>
                <a:spcPts val="2198"/>
              </a:lnSpc>
              <a:spcBef>
                <a:spcPct val="0"/>
              </a:spcBef>
            </a:pPr>
            <a:r>
              <a:rPr lang="en-US" sz="1787" spc="71">
                <a:solidFill>
                  <a:srgbClr val="F13223"/>
                </a:solidFill>
                <a:latin typeface="Didact Gothic"/>
                <a:ea typeface="Didact Gothic"/>
                <a:cs typeface="Didact Gothic"/>
                <a:sym typeface="Didact Gothic"/>
              </a:rPr>
              <a:t>Team 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439" y="1532820"/>
            <a:ext cx="9104326" cy="46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</a:pPr>
            <a:r>
              <a:rPr lang="en-US" sz="3127" spc="-78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Wound Closure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439" y="1969055"/>
            <a:ext cx="8077953" cy="58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1"/>
              </a:lnSpc>
            </a:pPr>
            <a:r>
              <a:rPr lang="en-US" sz="3909" spc="-97">
                <a:solidFill>
                  <a:srgbClr val="051D40"/>
                </a:solidFill>
                <a:latin typeface="Cardo"/>
                <a:ea typeface="Cardo"/>
                <a:cs typeface="Cardo"/>
                <a:sym typeface="Cardo"/>
              </a:rPr>
              <a:t>Strategy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2336762" y="1000125"/>
            <a:ext cx="8077953" cy="28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  <a:spcBef>
                <a:spcPct val="0"/>
              </a:spcBef>
            </a:pPr>
            <a:r>
              <a:rPr lang="en-US" sz="1714" spc="68">
                <a:solidFill>
                  <a:srgbClr val="051D40"/>
                </a:solidFill>
                <a:latin typeface="Didact Gothic"/>
                <a:ea typeface="Didact Gothic"/>
                <a:cs typeface="Didact Gothic"/>
                <a:sym typeface="Didact Gothic"/>
              </a:rPr>
              <a:t>Aegis &amp; Aegis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DAHGSkpES8E</dc:identifier>
  <dcterms:modified xsi:type="dcterms:W3CDTF">2011-08-01T06:04:30Z</dcterms:modified>
  <cp:revision>1</cp:revision>
  <dc:title>J&amp;J Comp</dc:title>
</cp:coreProperties>
</file>